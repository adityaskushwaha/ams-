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40AEE9C-1092-C88B-D49C-E94FDE73ABFA}">
          <p14:sldIdLst>
            <p14:sldId id="256"/>
          </p14:sldIdLst>
        </p14:section>
        <p14:section name="Dashboard and Data" id="{ED12B28F-D899-205D-F9F2-AE9AA16FE3A6}">
          <p14:sldIdLst>
            <p14:sldId id="257"/>
            <p14:sldId id="258"/>
          </p14:sldIdLst>
        </p14:section>
        <p14:section name="Marking Attendance" id="{B58224B0-356F-0205-2DC2-09B8351E2FAB}">
          <p14:sldIdLst>
            <p14:sldId id="259"/>
            <p14:sldId id="260"/>
          </p14:sldIdLst>
        </p14:section>
        <p14:section name="AI Integration" id="{D1B04CB0-6602-A83C-545D-AD8DDA07B825}">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5" d="100"/>
          <a:sy n="105" d="100"/>
        </p:scale>
        <p:origin x="31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435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AMS: an AI driven attendance monitoring system built as a data science project. Teachers use it to mark, update and store attendance for students across all departments. Data lives in PostgreSQL and AI features help teachers spot at-risk students.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gives the whole university picture: 83.5% overall attendance over 14 days, 720 students, 0 of 12 classes marked today, and no classes below 80%. The bar chart shows the daily trend from 12 to 25 October across all departments. The sidebar links to each department.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 department shows its classes. Computer Science has CSE Year I, II and III with 60 students each. Each folder shows whether today is marked and the average attendance (84%, 84%, 82%). All student and attendance data is preserved in a PostgreSQL database.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student has a card with name, roll number and the 30-day attendance percentage. Cards start green (present). Click a card once and it turns red (absent). Click again and it returns to green. There is no page reload, so marking is fast and easy to correct.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on one toolbar so teachers can navigate easily. The calendar picks the date, All present and All absent mark the whole class instantly, the counter shows the live total (for example 59 / 60), and Save attendance writes the record to the database.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Insights sits under each class. Three quick prompts: Who is at risk, Draft a note for absent students, and Class attendance summary. Teachers can also type their own question. The generated note lists students under 75% so they can be warned privately. All data can be exported in CSV format.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A3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25880"/>
            <a:ext cx="5029200" cy="17373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4F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457200" y="4846320"/>
            <a:ext cx="5486400" cy="228600"/>
          </a:xfrm>
          <a:prstGeom prst="rect">
            <a:avLst/>
          </a:prstGeom>
          <a:noFill/>
          <a:ln/>
        </p:spPr>
        <p:txBody>
          <a:bodyPr wrap="square" lIns="0" tIns="0" rIns="0" bIns="0" rtlCol="0" anchor="ctr"/>
          <a:lstStyle/>
          <a:p>
            <a:pPr marL="0" indent="0">
              <a:buNone/>
            </a:pPr>
            <a:r>
              <a:rPr lang="en-US" sz="1000" dirty="0">
                <a:solidFill>
                  <a:srgbClr val="5A6B62"/>
                </a:solidFill>
              </a:rPr>
              <a:t>AMS  |  AI Driven Attendance Monitoring System</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BE6F93A-EEA8-020E-ABA1-B2D6FFB06021}"/>
              </a:ext>
            </a:extLst>
          </p:cNvPr>
          <p:cNvGrpSpPr/>
          <p:nvPr/>
        </p:nvGrpSpPr>
        <p:grpSpPr>
          <a:xfrm>
            <a:off x="781812" y="137160"/>
            <a:ext cx="777240" cy="777240"/>
            <a:chOff x="548640" y="457200"/>
            <a:chExt cx="777240" cy="777240"/>
          </a:xfrm>
        </p:grpSpPr>
        <p:sp>
          <p:nvSpPr>
            <p:cNvPr id="2" name="Logo badge"/>
            <p:cNvSpPr/>
            <p:nvPr/>
          </p:nvSpPr>
          <p:spPr>
            <a:xfrm>
              <a:off x="548640" y="457200"/>
              <a:ext cx="777240" cy="777240"/>
            </a:xfrm>
            <a:prstGeom prst="ellipse">
              <a:avLst/>
            </a:prstGeom>
            <a:solidFill>
              <a:schemeClr val="bg1"/>
            </a:solidFill>
            <a:ln/>
          </p:spPr>
        </p:sp>
        <p:pic>
          <p:nvPicPr>
            <p:cNvPr id="3" name="AMS logo" descr="AMS logo"/>
            <p:cNvPicPr>
              <a:picLocks noChangeAspect="1"/>
            </p:cNvPicPr>
            <p:nvPr/>
          </p:nvPicPr>
          <p:blipFill>
            <a:blip r:embed="rId3"/>
            <a:stretch>
              <a:fillRect/>
            </a:stretch>
          </p:blipFill>
          <p:spPr>
            <a:xfrm>
              <a:off x="713232" y="603504"/>
              <a:ext cx="457200" cy="470916"/>
            </a:xfrm>
            <a:prstGeom prst="rect">
              <a:avLst/>
            </a:prstGeom>
          </p:spPr>
        </p:pic>
      </p:grpSp>
      <p:sp>
        <p:nvSpPr>
          <p:cNvPr id="4" name="Eyebrow"/>
          <p:cNvSpPr txBox="1"/>
          <p:nvPr/>
        </p:nvSpPr>
        <p:spPr>
          <a:xfrm>
            <a:off x="1760220" y="320040"/>
            <a:ext cx="3657600" cy="411480"/>
          </a:xfrm>
          <a:prstGeom prst="rect">
            <a:avLst/>
          </a:prstGeom>
          <a:noFill/>
          <a:ln/>
        </p:spPr>
        <p:txBody>
          <a:bodyPr wrap="square" lIns="0" tIns="0" rIns="0" bIns="0" rtlCol="0" anchor="ctr"/>
          <a:lstStyle/>
          <a:p>
            <a:pPr marL="0" indent="0">
              <a:buNone/>
            </a:pPr>
            <a:r>
              <a:rPr lang="en-US" sz="1600" b="1" kern="0" spc="300" dirty="0">
                <a:solidFill>
                  <a:schemeClr val="accent4"/>
                </a:solidFill>
                <a:latin typeface="Californian FB" panose="0207040306080B030204" pitchFamily="18" charset="0"/>
              </a:rPr>
              <a:t>DATA SCIENCE PROJECT</a:t>
            </a:r>
            <a:endParaRPr lang="en-US" sz="1600" dirty="0">
              <a:latin typeface="Californian FB" panose="0207040306080B030204" pitchFamily="18" charset="0"/>
            </a:endParaRPr>
          </a:p>
        </p:txBody>
      </p:sp>
      <p:sp>
        <p:nvSpPr>
          <p:cNvPr id="5" name="Text 0"/>
          <p:cNvSpPr>
            <a:spLocks noGrp="1"/>
          </p:cNvSpPr>
          <p:nvPr>
            <p:ph type="title" idx="100" hasCustomPrompt="1"/>
          </p:nvPr>
        </p:nvSpPr>
        <p:spPr>
          <a:xfrm>
            <a:off x="853440" y="857250"/>
            <a:ext cx="4691017" cy="1245870"/>
          </a:xfrm>
          <a:prstGeom prst="rect">
            <a:avLst/>
          </a:prstGeom>
          <a:noFill/>
          <a:ln/>
        </p:spPr>
        <p:txBody>
          <a:bodyPr wrap="square" lIns="0" tIns="0" rIns="0" bIns="0" rtlCol="0" anchor="ctr"/>
          <a:lstStyle/>
          <a:p>
            <a:pPr marL="0" indent="0" algn="l">
              <a:buNone/>
            </a:pPr>
            <a:r>
              <a:rPr lang="en-US" sz="2800" b="1" dirty="0">
                <a:solidFill>
                  <a:schemeClr val="accent4"/>
                </a:solidFill>
                <a:latin typeface="Californian FB" panose="0207040306080B030204" pitchFamily="18" charset="0"/>
              </a:rPr>
              <a:t>AMS</a:t>
            </a:r>
            <a:r>
              <a:rPr lang="en-US" sz="2800" b="1" dirty="0">
                <a:solidFill>
                  <a:schemeClr val="bg1"/>
                </a:solidFill>
                <a:latin typeface="Californian FB" panose="0207040306080B030204" pitchFamily="18" charset="0"/>
              </a:rPr>
              <a:t> – AI Driven Attendance Monitoring System</a:t>
            </a:r>
            <a:endParaRPr lang="en-US" sz="2800" dirty="0">
              <a:latin typeface="Californian FB" panose="0207040306080B030204" pitchFamily="18" charset="0"/>
            </a:endParaRPr>
          </a:p>
        </p:txBody>
      </p:sp>
      <p:sp>
        <p:nvSpPr>
          <p:cNvPr id="6" name="Tagline"/>
          <p:cNvSpPr txBox="1"/>
          <p:nvPr/>
        </p:nvSpPr>
        <p:spPr>
          <a:xfrm>
            <a:off x="819331" y="1920240"/>
            <a:ext cx="4598489" cy="822960"/>
          </a:xfrm>
          <a:prstGeom prst="rect">
            <a:avLst/>
          </a:prstGeom>
          <a:noFill/>
          <a:ln/>
        </p:spPr>
        <p:txBody>
          <a:bodyPr wrap="square" lIns="0" tIns="0" rIns="0" bIns="0" rtlCol="0" anchor="t"/>
          <a:lstStyle/>
          <a:p>
            <a:pPr marL="0" indent="0">
              <a:buNone/>
            </a:pPr>
            <a:r>
              <a:rPr lang="en-US" sz="1200" dirty="0">
                <a:solidFill>
                  <a:schemeClr val="accent5"/>
                </a:solidFill>
                <a:latin typeface="Californian FB" panose="0207040306080B030204" pitchFamily="18" charset="0"/>
              </a:rPr>
              <a:t>A web app for university teachers to mark, update and store student attendance across departments.</a:t>
            </a:r>
            <a:endParaRPr lang="en-US" sz="1200" dirty="0">
              <a:latin typeface="Californian FB" panose="0207040306080B030204" pitchFamily="18" charset="0"/>
            </a:endParaRPr>
          </a:p>
        </p:txBody>
      </p:sp>
      <p:sp>
        <p:nvSpPr>
          <p:cNvPr id="7" name="Intro card 1"/>
          <p:cNvSpPr/>
          <p:nvPr/>
        </p:nvSpPr>
        <p:spPr>
          <a:xfrm>
            <a:off x="5852160" y="640080"/>
            <a:ext cx="2834640" cy="1005840"/>
          </a:xfrm>
          <a:prstGeom prst="roundRect">
            <a:avLst>
              <a:gd name="adj" fmla="val 9091"/>
            </a:avLst>
          </a:prstGeom>
          <a:solidFill>
            <a:schemeClr val="bg1">
              <a:alpha val="12000"/>
            </a:schemeClr>
          </a:solidFill>
          <a:ln/>
        </p:spPr>
      </p:sp>
      <p:sp>
        <p:nvSpPr>
          <p:cNvPr id="8" name="Built for teachers badge"/>
          <p:cNvSpPr/>
          <p:nvPr/>
        </p:nvSpPr>
        <p:spPr>
          <a:xfrm>
            <a:off x="5989320" y="914400"/>
            <a:ext cx="457200" cy="457200"/>
          </a:xfrm>
          <a:prstGeom prst="ellipse">
            <a:avLst/>
          </a:prstGeom>
          <a:solidFill>
            <a:schemeClr val="accent2"/>
          </a:solidFill>
          <a:ln/>
        </p:spPr>
      </p:sp>
      <p:pic>
        <p:nvPicPr>
          <p:cNvPr id="9" name="Built for teachers" descr="Built for teachers"/>
          <p:cNvPicPr>
            <a:picLocks noChangeAspect="1"/>
          </p:cNvPicPr>
          <p:nvPr/>
        </p:nvPicPr>
        <p:blipFill>
          <a:blip r:embed="rId4"/>
          <a:stretch>
            <a:fillRect/>
          </a:stretch>
        </p:blipFill>
        <p:spPr>
          <a:xfrm>
            <a:off x="6103620" y="1028700"/>
            <a:ext cx="228600" cy="228600"/>
          </a:xfrm>
          <a:prstGeom prst="rect">
            <a:avLst/>
          </a:prstGeom>
        </p:spPr>
      </p:pic>
      <p:sp>
        <p:nvSpPr>
          <p:cNvPr id="10" name="Intro text 1"/>
          <p:cNvSpPr txBox="1"/>
          <p:nvPr/>
        </p:nvSpPr>
        <p:spPr>
          <a:xfrm>
            <a:off x="6583680" y="731520"/>
            <a:ext cx="2011680" cy="822960"/>
          </a:xfrm>
          <a:prstGeom prst="rect">
            <a:avLst/>
          </a:prstGeom>
          <a:noFill/>
          <a:ln/>
        </p:spPr>
        <p:txBody>
          <a:bodyPr wrap="square" lIns="0" tIns="0" rIns="0" bIns="0" rtlCol="0" anchor="ctr"/>
          <a:lstStyle/>
          <a:p>
            <a:pPr marL="0" indent="0">
              <a:buNone/>
            </a:pPr>
            <a:r>
              <a:rPr lang="en-US" sz="1500" b="1" dirty="0">
                <a:solidFill>
                  <a:schemeClr val="bg1"/>
                </a:solidFill>
                <a:latin typeface="Californian FB" panose="0207040306080B030204" pitchFamily="18" charset="0"/>
              </a:rPr>
              <a:t>Built for teachers</a:t>
            </a:r>
            <a:endParaRPr lang="en-US" sz="1500" dirty="0">
              <a:latin typeface="Californian FB" panose="0207040306080B030204" pitchFamily="18" charset="0"/>
            </a:endParaRPr>
          </a:p>
          <a:p>
            <a:pPr marL="0" indent="0">
              <a:buNone/>
            </a:pPr>
            <a:r>
              <a:rPr lang="en-US" sz="1200" dirty="0">
                <a:solidFill>
                  <a:schemeClr val="accent5"/>
                </a:solidFill>
                <a:latin typeface="Californian FB" panose="0207040306080B030204" pitchFamily="18" charset="0"/>
              </a:rPr>
              <a:t>Mark and update attendance in a few clicks</a:t>
            </a:r>
            <a:endParaRPr lang="en-US" sz="1500" dirty="0">
              <a:latin typeface="Californian FB" panose="0207040306080B030204" pitchFamily="18" charset="0"/>
            </a:endParaRPr>
          </a:p>
        </p:txBody>
      </p:sp>
      <p:sp>
        <p:nvSpPr>
          <p:cNvPr id="11" name="Intro card 2"/>
          <p:cNvSpPr/>
          <p:nvPr/>
        </p:nvSpPr>
        <p:spPr>
          <a:xfrm>
            <a:off x="5852160" y="1828800"/>
            <a:ext cx="2834640" cy="1005840"/>
          </a:xfrm>
          <a:prstGeom prst="roundRect">
            <a:avLst>
              <a:gd name="adj" fmla="val 9091"/>
            </a:avLst>
          </a:prstGeom>
          <a:solidFill>
            <a:schemeClr val="bg1">
              <a:alpha val="12000"/>
            </a:schemeClr>
          </a:solidFill>
          <a:ln/>
        </p:spPr>
      </p:sp>
      <p:sp>
        <p:nvSpPr>
          <p:cNvPr id="12" name="Central data store badge"/>
          <p:cNvSpPr/>
          <p:nvPr/>
        </p:nvSpPr>
        <p:spPr>
          <a:xfrm>
            <a:off x="5989320" y="2103120"/>
            <a:ext cx="457200" cy="457200"/>
          </a:xfrm>
          <a:prstGeom prst="ellipse">
            <a:avLst/>
          </a:prstGeom>
          <a:solidFill>
            <a:schemeClr val="accent2"/>
          </a:solidFill>
          <a:ln/>
        </p:spPr>
      </p:sp>
      <p:pic>
        <p:nvPicPr>
          <p:cNvPr id="13" name="Central data store" descr="Central data store"/>
          <p:cNvPicPr>
            <a:picLocks noChangeAspect="1"/>
          </p:cNvPicPr>
          <p:nvPr/>
        </p:nvPicPr>
        <p:blipFill>
          <a:blip r:embed="rId5"/>
          <a:stretch>
            <a:fillRect/>
          </a:stretch>
        </p:blipFill>
        <p:spPr>
          <a:xfrm>
            <a:off x="6103620" y="2217420"/>
            <a:ext cx="228600" cy="228600"/>
          </a:xfrm>
          <a:prstGeom prst="rect">
            <a:avLst/>
          </a:prstGeom>
        </p:spPr>
      </p:pic>
      <p:sp>
        <p:nvSpPr>
          <p:cNvPr id="14" name="Intro text 2"/>
          <p:cNvSpPr txBox="1"/>
          <p:nvPr/>
        </p:nvSpPr>
        <p:spPr>
          <a:xfrm>
            <a:off x="6583680" y="1920240"/>
            <a:ext cx="2011680" cy="822960"/>
          </a:xfrm>
          <a:prstGeom prst="rect">
            <a:avLst/>
          </a:prstGeom>
          <a:noFill/>
          <a:ln/>
        </p:spPr>
        <p:txBody>
          <a:bodyPr wrap="square" lIns="0" tIns="0" rIns="0" bIns="0" rtlCol="0" anchor="ctr"/>
          <a:lstStyle/>
          <a:p>
            <a:pPr marL="0" indent="0">
              <a:buNone/>
            </a:pPr>
            <a:r>
              <a:rPr lang="en-US" sz="1500" b="1" dirty="0">
                <a:solidFill>
                  <a:schemeClr val="bg1"/>
                </a:solidFill>
                <a:latin typeface="Californian FB" panose="0207040306080B030204" pitchFamily="18" charset="0"/>
              </a:rPr>
              <a:t>Central data store</a:t>
            </a:r>
            <a:endParaRPr lang="en-US" sz="1500" dirty="0">
              <a:latin typeface="Californian FB" panose="0207040306080B030204" pitchFamily="18" charset="0"/>
            </a:endParaRPr>
          </a:p>
          <a:p>
            <a:pPr marL="0" indent="0">
              <a:buNone/>
            </a:pPr>
            <a:r>
              <a:rPr lang="en-US" sz="1200" dirty="0">
                <a:solidFill>
                  <a:schemeClr val="accent5"/>
                </a:solidFill>
                <a:latin typeface="Californian FB" panose="0207040306080B030204" pitchFamily="18" charset="0"/>
              </a:rPr>
              <a:t>Records for all departments kept in PostgreSQL</a:t>
            </a:r>
            <a:endParaRPr lang="en-US" sz="1500" dirty="0">
              <a:latin typeface="Californian FB" panose="0207040306080B030204" pitchFamily="18" charset="0"/>
            </a:endParaRPr>
          </a:p>
        </p:txBody>
      </p:sp>
      <p:sp>
        <p:nvSpPr>
          <p:cNvPr id="15" name="Intro card 3"/>
          <p:cNvSpPr/>
          <p:nvPr/>
        </p:nvSpPr>
        <p:spPr>
          <a:xfrm>
            <a:off x="5852160" y="3017520"/>
            <a:ext cx="2834640" cy="1005840"/>
          </a:xfrm>
          <a:prstGeom prst="roundRect">
            <a:avLst>
              <a:gd name="adj" fmla="val 9091"/>
            </a:avLst>
          </a:prstGeom>
          <a:solidFill>
            <a:schemeClr val="bg1">
              <a:alpha val="12000"/>
            </a:schemeClr>
          </a:solidFill>
          <a:ln/>
        </p:spPr>
      </p:sp>
      <p:sp>
        <p:nvSpPr>
          <p:cNvPr id="16" name="AI-powered insights badge"/>
          <p:cNvSpPr/>
          <p:nvPr/>
        </p:nvSpPr>
        <p:spPr>
          <a:xfrm>
            <a:off x="5989320" y="3291840"/>
            <a:ext cx="457200" cy="457200"/>
          </a:xfrm>
          <a:prstGeom prst="ellipse">
            <a:avLst/>
          </a:prstGeom>
          <a:solidFill>
            <a:schemeClr val="accent2"/>
          </a:solidFill>
          <a:ln/>
        </p:spPr>
      </p:sp>
      <p:pic>
        <p:nvPicPr>
          <p:cNvPr id="17" name="AI-powered insights" descr="AI-powered insights"/>
          <p:cNvPicPr>
            <a:picLocks noChangeAspect="1"/>
          </p:cNvPicPr>
          <p:nvPr/>
        </p:nvPicPr>
        <p:blipFill>
          <a:blip r:embed="rId6"/>
          <a:stretch>
            <a:fillRect/>
          </a:stretch>
        </p:blipFill>
        <p:spPr>
          <a:xfrm>
            <a:off x="6103620" y="3406140"/>
            <a:ext cx="228600" cy="228600"/>
          </a:xfrm>
          <a:prstGeom prst="rect">
            <a:avLst/>
          </a:prstGeom>
        </p:spPr>
      </p:pic>
      <p:sp>
        <p:nvSpPr>
          <p:cNvPr id="18" name="Intro text 3"/>
          <p:cNvSpPr txBox="1"/>
          <p:nvPr/>
        </p:nvSpPr>
        <p:spPr>
          <a:xfrm>
            <a:off x="6583680" y="3108960"/>
            <a:ext cx="2011680" cy="822960"/>
          </a:xfrm>
          <a:prstGeom prst="rect">
            <a:avLst/>
          </a:prstGeom>
          <a:noFill/>
          <a:ln/>
        </p:spPr>
        <p:txBody>
          <a:bodyPr wrap="square" lIns="0" tIns="0" rIns="0" bIns="0" rtlCol="0" anchor="ctr"/>
          <a:lstStyle/>
          <a:p>
            <a:pPr marL="0" indent="0">
              <a:buNone/>
            </a:pPr>
            <a:r>
              <a:rPr lang="en-US" sz="1500" b="1" dirty="0">
                <a:solidFill>
                  <a:schemeClr val="bg1"/>
                </a:solidFill>
                <a:latin typeface="Californian FB" panose="0207040306080B030204" pitchFamily="18" charset="0"/>
              </a:rPr>
              <a:t>AI-powered insights</a:t>
            </a:r>
            <a:endParaRPr lang="en-US" sz="1500" dirty="0">
              <a:latin typeface="Californian FB" panose="0207040306080B030204" pitchFamily="18" charset="0"/>
            </a:endParaRPr>
          </a:p>
          <a:p>
            <a:pPr marL="0" indent="0">
              <a:buNone/>
            </a:pPr>
            <a:r>
              <a:rPr lang="en-US" sz="1200" dirty="0">
                <a:solidFill>
                  <a:schemeClr val="accent5"/>
                </a:solidFill>
                <a:latin typeface="Californian FB" panose="0207040306080B030204" pitchFamily="18" charset="0"/>
              </a:rPr>
              <a:t>Risk alerts, summaries, notes and CSV export</a:t>
            </a:r>
            <a:endParaRPr lang="en-US" sz="1500" dirty="0">
              <a:latin typeface="Californian FB" panose="0207040306080B030204" pitchFamily="18" charset="0"/>
            </a:endParaRPr>
          </a:p>
        </p:txBody>
      </p:sp>
      <p:sp>
        <p:nvSpPr>
          <p:cNvPr id="19" name="Scale line"/>
          <p:cNvSpPr txBox="1"/>
          <p:nvPr/>
        </p:nvSpPr>
        <p:spPr>
          <a:xfrm>
            <a:off x="5852160" y="4096818"/>
            <a:ext cx="2926080" cy="365760"/>
          </a:xfrm>
          <a:prstGeom prst="rect">
            <a:avLst/>
          </a:prstGeom>
          <a:noFill/>
          <a:ln/>
        </p:spPr>
        <p:txBody>
          <a:bodyPr wrap="square" lIns="0" tIns="0" rIns="0" bIns="0" rtlCol="0" anchor="ctr"/>
          <a:lstStyle/>
          <a:p>
            <a:pPr marL="0" indent="0">
              <a:buNone/>
            </a:pPr>
            <a:r>
              <a:rPr lang="en-US" sz="1200" b="1" dirty="0">
                <a:solidFill>
                  <a:schemeClr val="accent4"/>
                </a:solidFill>
                <a:latin typeface="Californian FB" panose="0207040306080B030204" pitchFamily="18" charset="0"/>
              </a:rPr>
              <a:t>720 students  |  4 departments  |  12 classes</a:t>
            </a:r>
            <a:endParaRPr lang="en-US" sz="1200" dirty="0">
              <a:latin typeface="Californian FB" panose="0207040306080B030204" pitchFamily="18" charset="0"/>
            </a:endParaRPr>
          </a:p>
        </p:txBody>
      </p:sp>
      <p:sp>
        <p:nvSpPr>
          <p:cNvPr id="21" name="Text 0">
            <a:extLst>
              <a:ext uri="{FF2B5EF4-FFF2-40B4-BE49-F238E27FC236}">
                <a16:creationId xmlns:a16="http://schemas.microsoft.com/office/drawing/2014/main" id="{FC0CDA9A-76F6-E574-E357-751F07C4E0C9}"/>
              </a:ext>
            </a:extLst>
          </p:cNvPr>
          <p:cNvSpPr txBox="1">
            <a:spLocks/>
          </p:cNvSpPr>
          <p:nvPr/>
        </p:nvSpPr>
        <p:spPr>
          <a:xfrm>
            <a:off x="819331" y="2503170"/>
            <a:ext cx="4691017" cy="1245870"/>
          </a:xfrm>
          <a:prstGeom prst="rect">
            <a:avLst/>
          </a:prstGeom>
          <a:noFill/>
          <a:ln/>
        </p:spPr>
        <p:txBody>
          <a:bodyPr wrap="square" lIns="0" tIns="0" rIns="0" bIns="0" rtlCol="0" anchor="ctr"/>
          <a:lstStyle>
            <a:lvl1pPr marL="0" indent="0" algn="l" defTabSz="914400" rtl="0" eaLnBrk="1" latinLnBrk="0" hangingPunct="1">
              <a:spcBef>
                <a:spcPct val="0"/>
              </a:spcBef>
              <a:buNone/>
              <a:defRPr lang="en-US" sz="3200" b="1" kern="1200" dirty="0">
                <a:solidFill>
                  <a:schemeClr val="bg1"/>
                </a:solidFill>
                <a:latin typeface="+mj-lt"/>
                <a:ea typeface="+mj-ea"/>
                <a:cs typeface="+mj-cs"/>
              </a:defRPr>
            </a:lvl1pPr>
          </a:lstStyle>
          <a:p>
            <a:r>
              <a:rPr lang="en-IN" sz="2000" dirty="0">
                <a:latin typeface="Californian FB" panose="0207040306080B030204" pitchFamily="18" charset="0"/>
              </a:rPr>
              <a:t>Created By –</a:t>
            </a:r>
          </a:p>
          <a:p>
            <a:r>
              <a:rPr lang="en-IN" sz="1400" dirty="0">
                <a:latin typeface="Californian FB" panose="0207040306080B030204" pitchFamily="18" charset="0"/>
              </a:rPr>
              <a:t>Anurag Kumar                       202410101150135</a:t>
            </a:r>
          </a:p>
          <a:p>
            <a:r>
              <a:rPr lang="en-IN" sz="1400" dirty="0">
                <a:latin typeface="Californian FB" panose="0207040306080B030204" pitchFamily="18" charset="0"/>
              </a:rPr>
              <a:t>Avanish Yadav                       202410101150187</a:t>
            </a:r>
          </a:p>
          <a:p>
            <a:r>
              <a:rPr lang="en-IN" sz="1400" dirty="0">
                <a:latin typeface="Californian FB" panose="0207040306080B030204" pitchFamily="18" charset="0"/>
              </a:rPr>
              <a:t>Aditya Singh Kushwaha     202410101150190</a:t>
            </a:r>
          </a:p>
        </p:txBody>
      </p:sp>
      <p:sp>
        <p:nvSpPr>
          <p:cNvPr id="22" name="Text 0">
            <a:extLst>
              <a:ext uri="{FF2B5EF4-FFF2-40B4-BE49-F238E27FC236}">
                <a16:creationId xmlns:a16="http://schemas.microsoft.com/office/drawing/2014/main" id="{7BD88BFF-E46A-1FE4-6701-7048BECCA2BA}"/>
              </a:ext>
            </a:extLst>
          </p:cNvPr>
          <p:cNvSpPr txBox="1">
            <a:spLocks/>
          </p:cNvSpPr>
          <p:nvPr/>
        </p:nvSpPr>
        <p:spPr>
          <a:xfrm>
            <a:off x="819331" y="3806190"/>
            <a:ext cx="3661048" cy="934993"/>
          </a:xfrm>
          <a:prstGeom prst="rect">
            <a:avLst/>
          </a:prstGeom>
          <a:noFill/>
          <a:ln/>
        </p:spPr>
        <p:txBody>
          <a:bodyPr wrap="square" lIns="0" tIns="0" rIns="0" bIns="0" rtlCol="0" anchor="ctr"/>
          <a:lstStyle>
            <a:lvl1pPr marL="0" indent="0" algn="l" defTabSz="914400" rtl="0" eaLnBrk="1" latinLnBrk="0" hangingPunct="1">
              <a:spcBef>
                <a:spcPct val="0"/>
              </a:spcBef>
              <a:buNone/>
              <a:defRPr lang="en-US" sz="3200" b="1" kern="1200" dirty="0">
                <a:solidFill>
                  <a:schemeClr val="bg1"/>
                </a:solidFill>
                <a:latin typeface="+mj-lt"/>
                <a:ea typeface="+mj-ea"/>
                <a:cs typeface="+mj-cs"/>
              </a:defRPr>
            </a:lvl1pPr>
          </a:lstStyle>
          <a:p>
            <a:r>
              <a:rPr lang="en-IN" sz="2000" dirty="0">
                <a:solidFill>
                  <a:schemeClr val="accent4"/>
                </a:solidFill>
                <a:latin typeface="Californian FB" panose="0207040306080B030204" pitchFamily="18" charset="0"/>
              </a:rPr>
              <a:t>Submitted To –</a:t>
            </a:r>
          </a:p>
          <a:p>
            <a:r>
              <a:rPr lang="en-IN" sz="2000" dirty="0">
                <a:solidFill>
                  <a:schemeClr val="accent4"/>
                </a:solidFill>
                <a:latin typeface="Californian FB" panose="0207040306080B030204" pitchFamily="18" charset="0"/>
              </a:rPr>
              <a:t>Mr. Raghav Sharma</a:t>
            </a:r>
          </a:p>
          <a:p>
            <a:r>
              <a:rPr lang="en-IN" sz="1400" dirty="0">
                <a:solidFill>
                  <a:schemeClr val="accent4"/>
                </a:solidFill>
                <a:latin typeface="Californian FB" panose="0207040306080B030204" pitchFamily="18" charset="0"/>
              </a:rPr>
              <a:t>Subject – Data Science, DS-55,56</a:t>
            </a:r>
            <a:endParaRPr lang="en-IN" sz="1400" dirty="0">
              <a:latin typeface="Californian FB" panose="0207040306080B030204" pitchFamily="18" charset="0"/>
            </a:endParaRPr>
          </a:p>
        </p:txBody>
      </p:sp>
      <p:sp>
        <p:nvSpPr>
          <p:cNvPr id="24" name="TextBox 23">
            <a:extLst>
              <a:ext uri="{FF2B5EF4-FFF2-40B4-BE49-F238E27FC236}">
                <a16:creationId xmlns:a16="http://schemas.microsoft.com/office/drawing/2014/main" id="{B18CCBAD-77BD-2B3A-9604-CC0826B2F6BF}"/>
              </a:ext>
            </a:extLst>
          </p:cNvPr>
          <p:cNvSpPr txBox="1"/>
          <p:nvPr/>
        </p:nvSpPr>
        <p:spPr>
          <a:xfrm>
            <a:off x="4364082" y="4415518"/>
            <a:ext cx="4598489" cy="276999"/>
          </a:xfrm>
          <a:prstGeom prst="rect">
            <a:avLst/>
          </a:prstGeom>
          <a:noFill/>
        </p:spPr>
        <p:txBody>
          <a:bodyPr wrap="square">
            <a:spAutoFit/>
          </a:bodyPr>
          <a:lstStyle/>
          <a:p>
            <a:r>
              <a:rPr lang="en-IN" sz="1200" dirty="0">
                <a:solidFill>
                  <a:schemeClr val="bg2">
                    <a:lumMod val="90000"/>
                  </a:schemeClr>
                </a:solidFill>
                <a:latin typeface="Californian FB" panose="0207040306080B030204" pitchFamily="18" charset="0"/>
              </a:rPr>
              <a:t>https://lovable.dev/preview/OrKfPnSIOT4iwG70L46sx2hvHL3lEInJ</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latin typeface="Californian FB" panose="0207040306080B030204" pitchFamily="18" charset="0"/>
              </a:rPr>
              <a:t>Attendance Overview</a:t>
            </a:r>
            <a:endParaRPr lang="en-US" sz="3400" dirty="0">
              <a:latin typeface="Californian FB" panose="0207040306080B030204" pitchFamily="18" charset="0"/>
            </a:endParaRPr>
          </a:p>
        </p:txBody>
      </p:sp>
      <p:sp>
        <p:nvSpPr>
          <p:cNvPr id="3" name="Dashboard screenshot: attendance overview and fourteen-day trend frame"/>
          <p:cNvSpPr/>
          <p:nvPr/>
        </p:nvSpPr>
        <p:spPr>
          <a:xfrm>
            <a:off x="181429" y="972458"/>
            <a:ext cx="5304971" cy="2481942"/>
          </a:xfrm>
          <a:prstGeom prst="roundRect">
            <a:avLst>
              <a:gd name="adj" fmla="val 4176"/>
            </a:avLst>
          </a:prstGeom>
          <a:solidFill>
            <a:schemeClr val="bg1"/>
          </a:solidFill>
          <a:ln/>
          <a:effectLst>
            <a:outerShdw blurRad="101600" dist="25400" dir="5400000" algn="bl" rotWithShape="0">
              <a:srgbClr val="000000">
                <a:alpha val="14000"/>
              </a:srgbClr>
            </a:outerShdw>
          </a:effectLst>
        </p:spPr>
      </p:sp>
      <p:pic>
        <p:nvPicPr>
          <p:cNvPr id="4" name="Dashboard screenshot: attendance overview and fourteen-day trend" descr="Dashboard screenshot: attendance overview and fourteen-day trend"/>
          <p:cNvPicPr>
            <a:picLocks noChangeAspect="1"/>
          </p:cNvPicPr>
          <p:nvPr/>
        </p:nvPicPr>
        <p:blipFill>
          <a:blip r:embed="rId3"/>
          <a:stretch>
            <a:fillRect/>
          </a:stretch>
        </p:blipFill>
        <p:spPr>
          <a:xfrm>
            <a:off x="205227" y="1071880"/>
            <a:ext cx="5266707" cy="2283736"/>
          </a:xfrm>
          <a:prstGeom prst="rect">
            <a:avLst/>
          </a:prstGeom>
        </p:spPr>
      </p:pic>
      <p:sp>
        <p:nvSpPr>
          <p:cNvPr id="5" name="Stat 14-day overall"/>
          <p:cNvSpPr/>
          <p:nvPr/>
        </p:nvSpPr>
        <p:spPr>
          <a:xfrm>
            <a:off x="457200" y="3611880"/>
            <a:ext cx="1097280" cy="868680"/>
          </a:xfrm>
          <a:prstGeom prst="roundRect">
            <a:avLst>
              <a:gd name="adj" fmla="val 10526"/>
            </a:avLst>
          </a:prstGeom>
          <a:solidFill>
            <a:schemeClr val="bg1"/>
          </a:solidFill>
          <a:ln/>
          <a:effectLst>
            <a:outerShdw blurRad="101600" dist="25400" dir="5400000" algn="bl" rotWithShape="0">
              <a:srgbClr val="000000">
                <a:alpha val="14000"/>
              </a:srgbClr>
            </a:outerShdw>
          </a:effectLst>
        </p:spPr>
      </p:sp>
      <p:sp>
        <p:nvSpPr>
          <p:cNvPr id="7" name="Stat Students"/>
          <p:cNvSpPr/>
          <p:nvPr/>
        </p:nvSpPr>
        <p:spPr>
          <a:xfrm>
            <a:off x="1676095" y="3611880"/>
            <a:ext cx="1097280" cy="868680"/>
          </a:xfrm>
          <a:prstGeom prst="roundRect">
            <a:avLst>
              <a:gd name="adj" fmla="val 10526"/>
            </a:avLst>
          </a:prstGeom>
          <a:solidFill>
            <a:schemeClr val="bg1"/>
          </a:solidFill>
          <a:ln/>
          <a:effectLst>
            <a:outerShdw blurRad="101600" dist="25400" dir="5400000" algn="bl" rotWithShape="0">
              <a:srgbClr val="000000">
                <a:alpha val="14000"/>
              </a:srgbClr>
            </a:outerShdw>
          </a:effectLst>
        </p:spPr>
      </p:sp>
      <p:sp>
        <p:nvSpPr>
          <p:cNvPr id="9" name="Stat Marked today"/>
          <p:cNvSpPr/>
          <p:nvPr/>
        </p:nvSpPr>
        <p:spPr>
          <a:xfrm>
            <a:off x="2894990" y="3611880"/>
            <a:ext cx="1097280" cy="868680"/>
          </a:xfrm>
          <a:prstGeom prst="roundRect">
            <a:avLst>
              <a:gd name="adj" fmla="val 10526"/>
            </a:avLst>
          </a:prstGeom>
          <a:solidFill>
            <a:schemeClr val="bg1"/>
          </a:solidFill>
          <a:ln/>
          <a:effectLst>
            <a:outerShdw blurRad="101600" dist="25400" dir="5400000" algn="bl" rotWithShape="0">
              <a:srgbClr val="000000">
                <a:alpha val="14000"/>
              </a:srgbClr>
            </a:outerShdw>
          </a:effectLst>
        </p:spPr>
      </p:sp>
      <p:sp>
        <p:nvSpPr>
          <p:cNvPr id="11" name="Stat Below 80%"/>
          <p:cNvSpPr/>
          <p:nvPr/>
        </p:nvSpPr>
        <p:spPr>
          <a:xfrm>
            <a:off x="4113886" y="3611880"/>
            <a:ext cx="1097280" cy="868680"/>
          </a:xfrm>
          <a:prstGeom prst="roundRect">
            <a:avLst>
              <a:gd name="adj" fmla="val 10526"/>
            </a:avLst>
          </a:prstGeom>
          <a:solidFill>
            <a:schemeClr val="bg1"/>
          </a:solidFill>
          <a:ln/>
          <a:effectLst>
            <a:outerShdw blurRad="101600" dist="25400" dir="5400000" algn="bl" rotWithShape="0">
              <a:srgbClr val="000000">
                <a:alpha val="14000"/>
              </a:srgbClr>
            </a:outerShdw>
          </a:effectLst>
        </p:spPr>
      </p:sp>
      <p:grpSp>
        <p:nvGrpSpPr>
          <p:cNvPr id="31" name="Group 30">
            <a:extLst>
              <a:ext uri="{FF2B5EF4-FFF2-40B4-BE49-F238E27FC236}">
                <a16:creationId xmlns:a16="http://schemas.microsoft.com/office/drawing/2014/main" id="{3C4BE939-D9AC-A711-B4D9-EF919E6BC856}"/>
              </a:ext>
            </a:extLst>
          </p:cNvPr>
          <p:cNvGrpSpPr/>
          <p:nvPr/>
        </p:nvGrpSpPr>
        <p:grpSpPr>
          <a:xfrm>
            <a:off x="457200" y="3611880"/>
            <a:ext cx="4753966" cy="868680"/>
            <a:chOff x="457200" y="3611880"/>
            <a:chExt cx="4753966" cy="868680"/>
          </a:xfrm>
        </p:grpSpPr>
        <p:sp>
          <p:nvSpPr>
            <p:cNvPr id="6" name="Stat 14-day overall"/>
            <p:cNvSpPr txBox="1"/>
            <p:nvPr/>
          </p:nvSpPr>
          <p:spPr>
            <a:xfrm>
              <a:off x="457200" y="3611880"/>
              <a:ext cx="1097280" cy="868680"/>
            </a:xfrm>
            <a:prstGeom prst="rect">
              <a:avLst/>
            </a:prstGeom>
            <a:noFill/>
            <a:ln/>
          </p:spPr>
          <p:txBody>
            <a:bodyPr wrap="square" lIns="0" tIns="0" rIns="0" bIns="0" rtlCol="0" anchor="ctr"/>
            <a:lstStyle/>
            <a:p>
              <a:pPr marL="0" indent="0" algn="ctr">
                <a:buNone/>
              </a:pPr>
              <a:r>
                <a:rPr lang="en-US" sz="2000" b="1" dirty="0">
                  <a:solidFill>
                    <a:schemeClr val="accent1"/>
                  </a:solidFill>
                  <a:latin typeface="Californian FB" panose="0207040306080B030204" pitchFamily="18" charset="0"/>
                </a:rPr>
                <a:t>83.5%</a:t>
              </a:r>
              <a:endParaRPr lang="en-US" sz="2000" dirty="0">
                <a:latin typeface="Californian FB" panose="0207040306080B030204" pitchFamily="18" charset="0"/>
              </a:endParaRPr>
            </a:p>
            <a:p>
              <a:pPr marL="0" indent="0" algn="ctr">
                <a:buNone/>
              </a:pPr>
              <a:r>
                <a:rPr lang="en-US" sz="1050" dirty="0">
                  <a:solidFill>
                    <a:srgbClr val="5A6B62"/>
                  </a:solidFill>
                  <a:latin typeface="Californian FB" panose="0207040306080B030204" pitchFamily="18" charset="0"/>
                </a:rPr>
                <a:t>14-day overall</a:t>
              </a:r>
              <a:endParaRPr lang="en-US" sz="2000" dirty="0">
                <a:latin typeface="Californian FB" panose="0207040306080B030204" pitchFamily="18" charset="0"/>
              </a:endParaRPr>
            </a:p>
          </p:txBody>
        </p:sp>
        <p:sp>
          <p:nvSpPr>
            <p:cNvPr id="8" name="Stat Students"/>
            <p:cNvSpPr txBox="1"/>
            <p:nvPr/>
          </p:nvSpPr>
          <p:spPr>
            <a:xfrm>
              <a:off x="1676095" y="3611880"/>
              <a:ext cx="1097280" cy="868680"/>
            </a:xfrm>
            <a:prstGeom prst="rect">
              <a:avLst/>
            </a:prstGeom>
            <a:noFill/>
            <a:ln/>
          </p:spPr>
          <p:txBody>
            <a:bodyPr wrap="square" lIns="0" tIns="0" rIns="0" bIns="0" rtlCol="0" anchor="ctr"/>
            <a:lstStyle/>
            <a:p>
              <a:pPr marL="0" indent="0" algn="ctr">
                <a:buNone/>
              </a:pPr>
              <a:r>
                <a:rPr lang="en-US" sz="2000" b="1" dirty="0">
                  <a:solidFill>
                    <a:schemeClr val="accent1"/>
                  </a:solidFill>
                  <a:latin typeface="Californian FB" panose="0207040306080B030204" pitchFamily="18" charset="0"/>
                </a:rPr>
                <a:t>720</a:t>
              </a:r>
              <a:endParaRPr lang="en-US" sz="2000" dirty="0">
                <a:latin typeface="Californian FB" panose="0207040306080B030204" pitchFamily="18" charset="0"/>
              </a:endParaRPr>
            </a:p>
            <a:p>
              <a:pPr marL="0" indent="0" algn="ctr">
                <a:buNone/>
              </a:pPr>
              <a:r>
                <a:rPr lang="en-US" sz="1050" dirty="0">
                  <a:solidFill>
                    <a:srgbClr val="5A6B62"/>
                  </a:solidFill>
                  <a:latin typeface="Californian FB" panose="0207040306080B030204" pitchFamily="18" charset="0"/>
                </a:rPr>
                <a:t>Students</a:t>
              </a:r>
              <a:endParaRPr lang="en-US" sz="2000" dirty="0">
                <a:latin typeface="Californian FB" panose="0207040306080B030204" pitchFamily="18" charset="0"/>
              </a:endParaRPr>
            </a:p>
          </p:txBody>
        </p:sp>
        <p:sp>
          <p:nvSpPr>
            <p:cNvPr id="10" name="Stat Marked today"/>
            <p:cNvSpPr txBox="1"/>
            <p:nvPr/>
          </p:nvSpPr>
          <p:spPr>
            <a:xfrm>
              <a:off x="2894990" y="3611880"/>
              <a:ext cx="1097280" cy="868680"/>
            </a:xfrm>
            <a:prstGeom prst="rect">
              <a:avLst/>
            </a:prstGeom>
            <a:noFill/>
            <a:ln/>
          </p:spPr>
          <p:txBody>
            <a:bodyPr wrap="square" lIns="0" tIns="0" rIns="0" bIns="0" rtlCol="0" anchor="ctr"/>
            <a:lstStyle/>
            <a:p>
              <a:pPr marL="0" indent="0" algn="ctr">
                <a:buNone/>
              </a:pPr>
              <a:r>
                <a:rPr lang="en-US" sz="2000" b="1" dirty="0">
                  <a:solidFill>
                    <a:schemeClr val="accent1"/>
                  </a:solidFill>
                  <a:latin typeface="Californian FB" panose="0207040306080B030204" pitchFamily="18" charset="0"/>
                </a:rPr>
                <a:t>0 / 12</a:t>
              </a:r>
              <a:endParaRPr lang="en-US" sz="2000" dirty="0">
                <a:latin typeface="Californian FB" panose="0207040306080B030204" pitchFamily="18" charset="0"/>
              </a:endParaRPr>
            </a:p>
            <a:p>
              <a:pPr marL="0" indent="0" algn="ctr">
                <a:buNone/>
              </a:pPr>
              <a:r>
                <a:rPr lang="en-US" sz="1050" dirty="0">
                  <a:solidFill>
                    <a:srgbClr val="5A6B62"/>
                  </a:solidFill>
                  <a:latin typeface="Californian FB" panose="0207040306080B030204" pitchFamily="18" charset="0"/>
                </a:rPr>
                <a:t>Marked today</a:t>
              </a:r>
              <a:endParaRPr lang="en-US" sz="2000" dirty="0">
                <a:latin typeface="Californian FB" panose="0207040306080B030204" pitchFamily="18" charset="0"/>
              </a:endParaRPr>
            </a:p>
          </p:txBody>
        </p:sp>
        <p:sp>
          <p:nvSpPr>
            <p:cNvPr id="12" name="Stat Below 80%"/>
            <p:cNvSpPr txBox="1"/>
            <p:nvPr/>
          </p:nvSpPr>
          <p:spPr>
            <a:xfrm>
              <a:off x="4113886" y="3611880"/>
              <a:ext cx="1097280" cy="868680"/>
            </a:xfrm>
            <a:prstGeom prst="rect">
              <a:avLst/>
            </a:prstGeom>
            <a:noFill/>
            <a:ln/>
          </p:spPr>
          <p:txBody>
            <a:bodyPr wrap="square" lIns="0" tIns="0" rIns="0" bIns="0" rtlCol="0" anchor="ctr"/>
            <a:lstStyle/>
            <a:p>
              <a:pPr marL="0" indent="0" algn="ctr">
                <a:buNone/>
              </a:pPr>
              <a:r>
                <a:rPr lang="en-US" sz="2000" b="1" dirty="0">
                  <a:solidFill>
                    <a:schemeClr val="accent1"/>
                  </a:solidFill>
                  <a:latin typeface="Californian FB" panose="0207040306080B030204" pitchFamily="18" charset="0"/>
                </a:rPr>
                <a:t>0</a:t>
              </a:r>
              <a:endParaRPr lang="en-US" sz="2000" dirty="0">
                <a:latin typeface="Californian FB" panose="0207040306080B030204" pitchFamily="18" charset="0"/>
              </a:endParaRPr>
            </a:p>
            <a:p>
              <a:pPr marL="0" indent="0" algn="ctr">
                <a:buNone/>
              </a:pPr>
              <a:r>
                <a:rPr lang="en-US" sz="1050" dirty="0">
                  <a:solidFill>
                    <a:srgbClr val="5A6B62"/>
                  </a:solidFill>
                  <a:latin typeface="Californian FB" panose="0207040306080B030204" pitchFamily="18" charset="0"/>
                </a:rPr>
                <a:t>Below 80%</a:t>
              </a:r>
              <a:endParaRPr lang="en-US" sz="2000" dirty="0">
                <a:latin typeface="Californian FB" panose="0207040306080B030204" pitchFamily="18" charset="0"/>
              </a:endParaRPr>
            </a:p>
          </p:txBody>
        </p:sp>
      </p:grpSp>
      <p:grpSp>
        <p:nvGrpSpPr>
          <p:cNvPr id="30" name="Group 29">
            <a:extLst>
              <a:ext uri="{FF2B5EF4-FFF2-40B4-BE49-F238E27FC236}">
                <a16:creationId xmlns:a16="http://schemas.microsoft.com/office/drawing/2014/main" id="{99D6D162-B41E-FA38-CB95-9F0C62AF6B48}"/>
              </a:ext>
            </a:extLst>
          </p:cNvPr>
          <p:cNvGrpSpPr/>
          <p:nvPr/>
        </p:nvGrpSpPr>
        <p:grpSpPr>
          <a:xfrm>
            <a:off x="5737497" y="1193219"/>
            <a:ext cx="3108960" cy="3246120"/>
            <a:chOff x="5577840" y="1280160"/>
            <a:chExt cx="3108960" cy="3246120"/>
          </a:xfrm>
        </p:grpSpPr>
        <p:sp>
          <p:nvSpPr>
            <p:cNvPr id="13" name="Overall attendance badge"/>
            <p:cNvSpPr/>
            <p:nvPr/>
          </p:nvSpPr>
          <p:spPr>
            <a:xfrm>
              <a:off x="5577840" y="1298448"/>
              <a:ext cx="420624" cy="420624"/>
            </a:xfrm>
            <a:prstGeom prst="ellipse">
              <a:avLst/>
            </a:prstGeom>
            <a:solidFill>
              <a:schemeClr val="accent2"/>
            </a:solidFill>
            <a:ln/>
          </p:spPr>
        </p:sp>
        <p:pic>
          <p:nvPicPr>
            <p:cNvPr id="14" name="Overall attendance" descr="Overall attendance"/>
            <p:cNvPicPr>
              <a:picLocks noChangeAspect="1"/>
            </p:cNvPicPr>
            <p:nvPr/>
          </p:nvPicPr>
          <p:blipFill>
            <a:blip r:embed="rId4"/>
            <a:stretch>
              <a:fillRect/>
            </a:stretch>
          </p:blipFill>
          <p:spPr>
            <a:xfrm>
              <a:off x="5682996" y="1403604"/>
              <a:ext cx="210312" cy="210312"/>
            </a:xfrm>
            <a:prstGeom prst="rect">
              <a:avLst/>
            </a:prstGeom>
          </p:spPr>
        </p:pic>
        <p:sp>
          <p:nvSpPr>
            <p:cNvPr id="15" name="Overall attendance"/>
            <p:cNvSpPr txBox="1"/>
            <p:nvPr/>
          </p:nvSpPr>
          <p:spPr>
            <a:xfrm>
              <a:off x="6144768" y="1280160"/>
              <a:ext cx="25420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Overall attendance</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83.5% averaged over the last 14 days.</a:t>
              </a:r>
              <a:endParaRPr lang="en-US" sz="1400" dirty="0">
                <a:latin typeface="Californian FB" panose="0207040306080B030204" pitchFamily="18" charset="0"/>
              </a:endParaRPr>
            </a:p>
          </p:txBody>
        </p:sp>
        <p:sp>
          <p:nvSpPr>
            <p:cNvPr id="16" name="Fourteen-day trend badge"/>
            <p:cNvSpPr/>
            <p:nvPr/>
          </p:nvSpPr>
          <p:spPr>
            <a:xfrm>
              <a:off x="5577840" y="2167128"/>
              <a:ext cx="420624" cy="420624"/>
            </a:xfrm>
            <a:prstGeom prst="ellipse">
              <a:avLst/>
            </a:prstGeom>
            <a:solidFill>
              <a:schemeClr val="accent1"/>
            </a:solidFill>
            <a:ln/>
          </p:spPr>
        </p:sp>
        <p:pic>
          <p:nvPicPr>
            <p:cNvPr id="17" name="Fourteen-day trend" descr="Fourteen-day trend"/>
            <p:cNvPicPr>
              <a:picLocks noChangeAspect="1"/>
            </p:cNvPicPr>
            <p:nvPr/>
          </p:nvPicPr>
          <p:blipFill>
            <a:blip r:embed="rId5"/>
            <a:stretch>
              <a:fillRect/>
            </a:stretch>
          </p:blipFill>
          <p:spPr>
            <a:xfrm>
              <a:off x="5682996" y="2272284"/>
              <a:ext cx="210312" cy="210312"/>
            </a:xfrm>
            <a:prstGeom prst="rect">
              <a:avLst/>
            </a:prstGeom>
          </p:spPr>
        </p:pic>
        <p:sp>
          <p:nvSpPr>
            <p:cNvPr id="18" name="Fourteen-day trend"/>
            <p:cNvSpPr txBox="1"/>
            <p:nvPr/>
          </p:nvSpPr>
          <p:spPr>
            <a:xfrm>
              <a:off x="6144768" y="2148840"/>
              <a:ext cx="25420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Fourteen-day trend</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Daily bars for all departments combined; today stays empty until marked.</a:t>
              </a:r>
              <a:endParaRPr lang="en-US" sz="1400" dirty="0">
                <a:latin typeface="Californian FB" panose="0207040306080B030204" pitchFamily="18" charset="0"/>
              </a:endParaRPr>
            </a:p>
          </p:txBody>
        </p:sp>
        <p:sp>
          <p:nvSpPr>
            <p:cNvPr id="19" name="Live marking tracker badge"/>
            <p:cNvSpPr/>
            <p:nvPr/>
          </p:nvSpPr>
          <p:spPr>
            <a:xfrm>
              <a:off x="5577840" y="3035808"/>
              <a:ext cx="420624" cy="420624"/>
            </a:xfrm>
            <a:prstGeom prst="ellipse">
              <a:avLst/>
            </a:prstGeom>
            <a:solidFill>
              <a:schemeClr val="accent2"/>
            </a:solidFill>
            <a:ln/>
          </p:spPr>
        </p:sp>
        <p:pic>
          <p:nvPicPr>
            <p:cNvPr id="20" name="Live marking tracker" descr="Live marking tracker"/>
            <p:cNvPicPr>
              <a:picLocks noChangeAspect="1"/>
            </p:cNvPicPr>
            <p:nvPr/>
          </p:nvPicPr>
          <p:blipFill>
            <a:blip r:embed="rId6"/>
            <a:stretch>
              <a:fillRect/>
            </a:stretch>
          </p:blipFill>
          <p:spPr>
            <a:xfrm>
              <a:off x="5682996" y="3140964"/>
              <a:ext cx="210312" cy="210312"/>
            </a:xfrm>
            <a:prstGeom prst="rect">
              <a:avLst/>
            </a:prstGeom>
          </p:spPr>
        </p:pic>
        <p:sp>
          <p:nvSpPr>
            <p:cNvPr id="21" name="Live marking tracker"/>
            <p:cNvSpPr txBox="1"/>
            <p:nvPr/>
          </p:nvSpPr>
          <p:spPr>
            <a:xfrm>
              <a:off x="6144768" y="3017520"/>
              <a:ext cx="25420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Live marking tracker</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Shows classes marked today and classes below 80%.</a:t>
              </a:r>
              <a:endParaRPr lang="en-US" sz="1400" dirty="0">
                <a:latin typeface="Californian FB" panose="0207040306080B030204" pitchFamily="18" charset="0"/>
              </a:endParaRPr>
            </a:p>
          </p:txBody>
        </p:sp>
        <p:sp>
          <p:nvSpPr>
            <p:cNvPr id="22" name="Sidebar navigation badge"/>
            <p:cNvSpPr/>
            <p:nvPr/>
          </p:nvSpPr>
          <p:spPr>
            <a:xfrm>
              <a:off x="5577840" y="3904488"/>
              <a:ext cx="420624" cy="420624"/>
            </a:xfrm>
            <a:prstGeom prst="ellipse">
              <a:avLst/>
            </a:prstGeom>
            <a:solidFill>
              <a:schemeClr val="accent1"/>
            </a:solidFill>
            <a:ln/>
          </p:spPr>
        </p:sp>
        <p:pic>
          <p:nvPicPr>
            <p:cNvPr id="23" name="Sidebar navigation" descr="Sidebar navigation"/>
            <p:cNvPicPr>
              <a:picLocks noChangeAspect="1"/>
            </p:cNvPicPr>
            <p:nvPr/>
          </p:nvPicPr>
          <p:blipFill>
            <a:blip r:embed="rId7"/>
            <a:stretch>
              <a:fillRect/>
            </a:stretch>
          </p:blipFill>
          <p:spPr>
            <a:xfrm>
              <a:off x="5682996" y="4009644"/>
              <a:ext cx="210312" cy="210312"/>
            </a:xfrm>
            <a:prstGeom prst="rect">
              <a:avLst/>
            </a:prstGeom>
          </p:spPr>
        </p:pic>
        <p:sp>
          <p:nvSpPr>
            <p:cNvPr id="24" name="Sidebar navigation"/>
            <p:cNvSpPr txBox="1"/>
            <p:nvPr/>
          </p:nvSpPr>
          <p:spPr>
            <a:xfrm>
              <a:off x="6144768" y="3886200"/>
              <a:ext cx="25420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Sidebar navigation</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Jump to Computer Science, Electronics, Mechanical or Civil.</a:t>
              </a:r>
              <a:endParaRPr lang="en-US" sz="1400" dirty="0">
                <a:latin typeface="Californian FB" panose="0207040306080B030204" pitchFamily="18" charset="0"/>
              </a:endParaRPr>
            </a:p>
          </p:txBody>
        </p:sp>
      </p:grpSp>
      <p:sp>
        <p:nvSpPr>
          <p:cNvPr id="29" name="Rectangle 28">
            <a:extLst>
              <a:ext uri="{FF2B5EF4-FFF2-40B4-BE49-F238E27FC236}">
                <a16:creationId xmlns:a16="http://schemas.microsoft.com/office/drawing/2014/main" id="{ED008147-3DA9-1632-3811-16987C58E0CB}"/>
              </a:ext>
            </a:extLst>
          </p:cNvPr>
          <p:cNvSpPr/>
          <p:nvPr/>
        </p:nvSpPr>
        <p:spPr>
          <a:xfrm>
            <a:off x="0" y="4869180"/>
            <a:ext cx="9144000" cy="1817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alifornian FB" panose="0207040306080B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latin typeface="Californian FB" panose="0207040306080B030204" pitchFamily="18" charset="0"/>
              </a:rPr>
              <a:t>Departments &amp; Classes</a:t>
            </a:r>
            <a:endParaRPr lang="en-US" sz="3400" dirty="0">
              <a:latin typeface="Californian FB" panose="0207040306080B030204" pitchFamily="18" charset="0"/>
            </a:endParaRPr>
          </a:p>
        </p:txBody>
      </p:sp>
      <p:grpSp>
        <p:nvGrpSpPr>
          <p:cNvPr id="19" name="Group 18">
            <a:extLst>
              <a:ext uri="{FF2B5EF4-FFF2-40B4-BE49-F238E27FC236}">
                <a16:creationId xmlns:a16="http://schemas.microsoft.com/office/drawing/2014/main" id="{96330998-B55B-D113-B669-99911CE722EF}"/>
              </a:ext>
            </a:extLst>
          </p:cNvPr>
          <p:cNvGrpSpPr/>
          <p:nvPr/>
        </p:nvGrpSpPr>
        <p:grpSpPr>
          <a:xfrm>
            <a:off x="411480" y="922020"/>
            <a:ext cx="7868920" cy="2663009"/>
            <a:chOff x="457200" y="1051560"/>
            <a:chExt cx="8229600" cy="2869900"/>
          </a:xfrm>
        </p:grpSpPr>
        <p:sp>
          <p:nvSpPr>
            <p:cNvPr id="3" name="Computer Science department with three classes frame"/>
            <p:cNvSpPr/>
            <p:nvPr/>
          </p:nvSpPr>
          <p:spPr>
            <a:xfrm>
              <a:off x="457200" y="1051560"/>
              <a:ext cx="8229600" cy="2869900"/>
            </a:xfrm>
            <a:prstGeom prst="roundRect">
              <a:avLst>
                <a:gd name="adj" fmla="val 3186"/>
              </a:avLst>
            </a:prstGeom>
            <a:solidFill>
              <a:schemeClr val="bg1"/>
            </a:solidFill>
            <a:ln/>
            <a:effectLst>
              <a:outerShdw blurRad="101600" dist="25400" dir="5400000" algn="bl" rotWithShape="0">
                <a:srgbClr val="000000">
                  <a:alpha val="14000"/>
                </a:srgbClr>
              </a:outerShdw>
            </a:effectLst>
          </p:spPr>
        </p:sp>
        <p:pic>
          <p:nvPicPr>
            <p:cNvPr id="4" name="Computer Science department with three classes" descr="Computer Science department with three classes"/>
            <p:cNvPicPr>
              <a:picLocks noChangeAspect="1"/>
            </p:cNvPicPr>
            <p:nvPr/>
          </p:nvPicPr>
          <p:blipFill>
            <a:blip r:embed="rId3"/>
            <a:stretch>
              <a:fillRect/>
            </a:stretch>
          </p:blipFill>
          <p:spPr>
            <a:xfrm>
              <a:off x="521208" y="1115568"/>
              <a:ext cx="8101584" cy="2741884"/>
            </a:xfrm>
            <a:prstGeom prst="rect">
              <a:avLst/>
            </a:prstGeom>
          </p:spPr>
        </p:pic>
      </p:grpSp>
      <p:sp>
        <p:nvSpPr>
          <p:cNvPr id="6" name="Stored in PostgreSQL badge"/>
          <p:cNvSpPr/>
          <p:nvPr/>
        </p:nvSpPr>
        <p:spPr>
          <a:xfrm>
            <a:off x="594360" y="4178808"/>
            <a:ext cx="420624" cy="420624"/>
          </a:xfrm>
          <a:prstGeom prst="ellipse">
            <a:avLst/>
          </a:prstGeom>
          <a:solidFill>
            <a:schemeClr val="accent1"/>
          </a:solidFill>
          <a:ln/>
        </p:spPr>
      </p:sp>
      <p:pic>
        <p:nvPicPr>
          <p:cNvPr id="11" name="3 classes x 60 students" descr="3 classes x 60 students"/>
          <p:cNvPicPr>
            <a:picLocks noChangeAspect="1"/>
          </p:cNvPicPr>
          <p:nvPr/>
        </p:nvPicPr>
        <p:blipFill>
          <a:blip r:embed="rId4"/>
          <a:stretch>
            <a:fillRect/>
          </a:stretch>
        </p:blipFill>
        <p:spPr>
          <a:xfrm>
            <a:off x="3488436" y="4283964"/>
            <a:ext cx="210312" cy="210312"/>
          </a:xfrm>
          <a:prstGeom prst="rect">
            <a:avLst/>
          </a:prstGeom>
        </p:spPr>
      </p:pic>
      <p:sp>
        <p:nvSpPr>
          <p:cNvPr id="14" name="Average attendance badge"/>
          <p:cNvSpPr/>
          <p:nvPr/>
        </p:nvSpPr>
        <p:spPr>
          <a:xfrm>
            <a:off x="6172200" y="4178808"/>
            <a:ext cx="420624" cy="420624"/>
          </a:xfrm>
          <a:prstGeom prst="ellipse">
            <a:avLst/>
          </a:prstGeom>
          <a:solidFill>
            <a:schemeClr val="accent1"/>
          </a:solidFill>
          <a:ln/>
        </p:spPr>
      </p:sp>
      <p:grpSp>
        <p:nvGrpSpPr>
          <p:cNvPr id="20" name="Group 19">
            <a:extLst>
              <a:ext uri="{FF2B5EF4-FFF2-40B4-BE49-F238E27FC236}">
                <a16:creationId xmlns:a16="http://schemas.microsoft.com/office/drawing/2014/main" id="{9BAC6FED-A4AD-FF5F-C8C1-ECA92E0B1AA9}"/>
              </a:ext>
            </a:extLst>
          </p:cNvPr>
          <p:cNvGrpSpPr/>
          <p:nvPr/>
        </p:nvGrpSpPr>
        <p:grpSpPr>
          <a:xfrm>
            <a:off x="411480" y="3854777"/>
            <a:ext cx="8229600" cy="731520"/>
            <a:chOff x="457200" y="4023360"/>
            <a:chExt cx="8229600" cy="731520"/>
          </a:xfrm>
        </p:grpSpPr>
        <p:sp>
          <p:nvSpPr>
            <p:cNvPr id="5" name="Info card 1"/>
            <p:cNvSpPr/>
            <p:nvPr/>
          </p:nvSpPr>
          <p:spPr>
            <a:xfrm>
              <a:off x="457200" y="4023360"/>
              <a:ext cx="2651760" cy="731520"/>
            </a:xfrm>
            <a:prstGeom prst="roundRect">
              <a:avLst>
                <a:gd name="adj" fmla="val 12500"/>
              </a:avLst>
            </a:prstGeom>
            <a:solidFill>
              <a:schemeClr val="bg1"/>
            </a:solidFill>
            <a:ln/>
            <a:effectLst>
              <a:outerShdw blurRad="101600" dist="25400" dir="5400000" algn="bl" rotWithShape="0">
                <a:srgbClr val="000000">
                  <a:alpha val="14000"/>
                </a:srgbClr>
              </a:outerShdw>
            </a:effectLst>
          </p:spPr>
        </p:sp>
        <p:pic>
          <p:nvPicPr>
            <p:cNvPr id="7" name="Stored in PostgreSQL" descr="Stored in PostgreSQL"/>
            <p:cNvPicPr>
              <a:picLocks noChangeAspect="1"/>
            </p:cNvPicPr>
            <p:nvPr/>
          </p:nvPicPr>
          <p:blipFill>
            <a:blip r:embed="rId5"/>
            <a:stretch>
              <a:fillRect/>
            </a:stretch>
          </p:blipFill>
          <p:spPr>
            <a:xfrm>
              <a:off x="699516" y="4283964"/>
              <a:ext cx="210312" cy="210312"/>
            </a:xfrm>
            <a:prstGeom prst="rect">
              <a:avLst/>
            </a:prstGeom>
          </p:spPr>
        </p:pic>
        <p:sp>
          <p:nvSpPr>
            <p:cNvPr id="8" name="Info text 1"/>
            <p:cNvSpPr txBox="1"/>
            <p:nvPr/>
          </p:nvSpPr>
          <p:spPr>
            <a:xfrm>
              <a:off x="1143000" y="4023360"/>
              <a:ext cx="1920240" cy="731520"/>
            </a:xfrm>
            <a:prstGeom prst="rect">
              <a:avLst/>
            </a:prstGeom>
            <a:noFill/>
            <a:ln/>
          </p:spPr>
          <p:txBody>
            <a:bodyPr wrap="square" lIns="0" tIns="0" rIns="0" bIns="0" rtlCol="0" anchor="ctr"/>
            <a:lstStyle/>
            <a:p>
              <a:pPr marL="0" indent="0">
                <a:buNone/>
              </a:pPr>
              <a:r>
                <a:rPr lang="en-US" sz="1400" b="1" dirty="0">
                  <a:solidFill>
                    <a:schemeClr val="tx1"/>
                  </a:solidFill>
                  <a:latin typeface="Californian FB" panose="0207040306080B030204" pitchFamily="18" charset="0"/>
                </a:rPr>
                <a:t>Stored in PostgreSQL</a:t>
              </a:r>
              <a:endParaRPr lang="en-US" sz="1400" dirty="0">
                <a:latin typeface="Californian FB" panose="0207040306080B030204" pitchFamily="18" charset="0"/>
              </a:endParaRPr>
            </a:p>
            <a:p>
              <a:pPr marL="0" indent="0">
                <a:buNone/>
              </a:pPr>
              <a:r>
                <a:rPr lang="en-US" sz="1100" dirty="0">
                  <a:solidFill>
                    <a:srgbClr val="5A6B62"/>
                  </a:solidFill>
                  <a:latin typeface="Californian FB" panose="0207040306080B030204" pitchFamily="18" charset="0"/>
                </a:rPr>
                <a:t>Relational DBMS holds all records</a:t>
              </a:r>
              <a:endParaRPr lang="en-US" sz="1400" dirty="0">
                <a:latin typeface="Californian FB" panose="0207040306080B030204" pitchFamily="18" charset="0"/>
              </a:endParaRPr>
            </a:p>
          </p:txBody>
        </p:sp>
        <p:sp>
          <p:nvSpPr>
            <p:cNvPr id="9" name="Info card 2"/>
            <p:cNvSpPr/>
            <p:nvPr/>
          </p:nvSpPr>
          <p:spPr>
            <a:xfrm>
              <a:off x="3246120" y="4023360"/>
              <a:ext cx="2651760" cy="731520"/>
            </a:xfrm>
            <a:prstGeom prst="roundRect">
              <a:avLst>
                <a:gd name="adj" fmla="val 12500"/>
              </a:avLst>
            </a:prstGeom>
            <a:solidFill>
              <a:schemeClr val="bg1"/>
            </a:solidFill>
            <a:ln/>
            <a:effectLst>
              <a:outerShdw blurRad="101600" dist="25400" dir="5400000" algn="bl" rotWithShape="0">
                <a:srgbClr val="000000">
                  <a:alpha val="14000"/>
                </a:srgbClr>
              </a:outerShdw>
            </a:effectLst>
          </p:spPr>
        </p:sp>
        <p:sp>
          <p:nvSpPr>
            <p:cNvPr id="10" name="3 classes x 60 students badge"/>
            <p:cNvSpPr/>
            <p:nvPr/>
          </p:nvSpPr>
          <p:spPr>
            <a:xfrm>
              <a:off x="3383280" y="4178808"/>
              <a:ext cx="420624" cy="420624"/>
            </a:xfrm>
            <a:prstGeom prst="ellipse">
              <a:avLst/>
            </a:prstGeom>
            <a:solidFill>
              <a:schemeClr val="accent2"/>
            </a:solidFill>
            <a:ln/>
          </p:spPr>
        </p:sp>
        <p:sp>
          <p:nvSpPr>
            <p:cNvPr id="12" name="Info text 2"/>
            <p:cNvSpPr txBox="1"/>
            <p:nvPr/>
          </p:nvSpPr>
          <p:spPr>
            <a:xfrm>
              <a:off x="3931920" y="4023360"/>
              <a:ext cx="1920240" cy="731520"/>
            </a:xfrm>
            <a:prstGeom prst="rect">
              <a:avLst/>
            </a:prstGeom>
            <a:noFill/>
            <a:ln/>
          </p:spPr>
          <p:txBody>
            <a:bodyPr wrap="square" lIns="0" tIns="0" rIns="0" bIns="0" rtlCol="0" anchor="ctr"/>
            <a:lstStyle/>
            <a:p>
              <a:pPr marL="0" indent="0">
                <a:buNone/>
              </a:pPr>
              <a:r>
                <a:rPr lang="en-US" sz="1400" b="1" dirty="0">
                  <a:solidFill>
                    <a:schemeClr val="tx1"/>
                  </a:solidFill>
                  <a:latin typeface="Californian FB" panose="0207040306080B030204" pitchFamily="18" charset="0"/>
                </a:rPr>
                <a:t>3 classes x 60 students</a:t>
              </a:r>
              <a:endParaRPr lang="en-US" sz="1400" dirty="0">
                <a:latin typeface="Californian FB" panose="0207040306080B030204" pitchFamily="18" charset="0"/>
              </a:endParaRPr>
            </a:p>
            <a:p>
              <a:pPr marL="0" indent="0">
                <a:buNone/>
              </a:pPr>
              <a:r>
                <a:rPr lang="en-US" sz="1100" dirty="0">
                  <a:solidFill>
                    <a:srgbClr val="5A6B62"/>
                  </a:solidFill>
                  <a:latin typeface="Californian FB" panose="0207040306080B030204" pitchFamily="18" charset="0"/>
                </a:rPr>
                <a:t>180 students in this department</a:t>
              </a:r>
              <a:endParaRPr lang="en-US" sz="1400" dirty="0">
                <a:latin typeface="Californian FB" panose="0207040306080B030204" pitchFamily="18" charset="0"/>
              </a:endParaRPr>
            </a:p>
          </p:txBody>
        </p:sp>
        <p:sp>
          <p:nvSpPr>
            <p:cNvPr id="13" name="Info card 3"/>
            <p:cNvSpPr/>
            <p:nvPr/>
          </p:nvSpPr>
          <p:spPr>
            <a:xfrm>
              <a:off x="6035040" y="4023360"/>
              <a:ext cx="2651760" cy="731520"/>
            </a:xfrm>
            <a:prstGeom prst="roundRect">
              <a:avLst>
                <a:gd name="adj" fmla="val 12500"/>
              </a:avLst>
            </a:prstGeom>
            <a:solidFill>
              <a:schemeClr val="bg1"/>
            </a:solidFill>
            <a:ln/>
            <a:effectLst>
              <a:outerShdw blurRad="101600" dist="25400" dir="5400000" algn="bl" rotWithShape="0">
                <a:srgbClr val="000000">
                  <a:alpha val="14000"/>
                </a:srgbClr>
              </a:outerShdw>
            </a:effectLst>
          </p:spPr>
        </p:sp>
        <p:pic>
          <p:nvPicPr>
            <p:cNvPr id="15" name="Average attendance" descr="Average attendance"/>
            <p:cNvPicPr>
              <a:picLocks noChangeAspect="1"/>
            </p:cNvPicPr>
            <p:nvPr/>
          </p:nvPicPr>
          <p:blipFill>
            <a:blip r:embed="rId6"/>
            <a:stretch>
              <a:fillRect/>
            </a:stretch>
          </p:blipFill>
          <p:spPr>
            <a:xfrm>
              <a:off x="6277356" y="4283964"/>
              <a:ext cx="210312" cy="210312"/>
            </a:xfrm>
            <a:prstGeom prst="rect">
              <a:avLst/>
            </a:prstGeom>
          </p:spPr>
        </p:pic>
        <p:sp>
          <p:nvSpPr>
            <p:cNvPr id="16" name="Info text 3"/>
            <p:cNvSpPr txBox="1"/>
            <p:nvPr/>
          </p:nvSpPr>
          <p:spPr>
            <a:xfrm>
              <a:off x="6720840" y="4023360"/>
              <a:ext cx="1920240" cy="731520"/>
            </a:xfrm>
            <a:prstGeom prst="rect">
              <a:avLst/>
            </a:prstGeom>
            <a:noFill/>
            <a:ln/>
          </p:spPr>
          <p:txBody>
            <a:bodyPr wrap="square" lIns="0" tIns="0" rIns="0" bIns="0" rtlCol="0" anchor="ctr"/>
            <a:lstStyle/>
            <a:p>
              <a:pPr marL="0" indent="0">
                <a:buNone/>
              </a:pPr>
              <a:r>
                <a:rPr lang="en-US" sz="1400" b="1" dirty="0">
                  <a:solidFill>
                    <a:schemeClr val="tx1"/>
                  </a:solidFill>
                  <a:latin typeface="Californian FB" panose="0207040306080B030204" pitchFamily="18" charset="0"/>
                </a:rPr>
                <a:t>Average attendance</a:t>
              </a:r>
              <a:endParaRPr lang="en-US" sz="1400" dirty="0">
                <a:latin typeface="Californian FB" panose="0207040306080B030204" pitchFamily="18" charset="0"/>
              </a:endParaRPr>
            </a:p>
            <a:p>
              <a:pPr marL="0" indent="0">
                <a:buNone/>
              </a:pPr>
              <a:r>
                <a:rPr lang="en-US" sz="1100" dirty="0">
                  <a:solidFill>
                    <a:srgbClr val="5A6B62"/>
                  </a:solidFill>
                  <a:latin typeface="Californian FB" panose="0207040306080B030204" pitchFamily="18" charset="0"/>
                </a:rPr>
                <a:t>84%  |  84%  |  82%</a:t>
              </a:r>
              <a:endParaRPr lang="en-US" sz="1400" dirty="0">
                <a:latin typeface="Californian FB" panose="0207040306080B030204" pitchFamily="18" charset="0"/>
              </a:endParaRPr>
            </a:p>
          </p:txBody>
        </p:sp>
      </p:gr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latin typeface="Californian FB" panose="0207040306080B030204" pitchFamily="18" charset="0"/>
              </a:rPr>
              <a:t>3</a:t>
            </a:fld>
            <a:endParaRPr lang="en-US">
              <a:latin typeface="Californian FB" panose="0207040306080B030204" pitchFamily="18" charset="0"/>
            </a:endParaRPr>
          </a:p>
        </p:txBody>
      </p:sp>
      <p:sp>
        <p:nvSpPr>
          <p:cNvPr id="18" name="Rectangle 17">
            <a:extLst>
              <a:ext uri="{FF2B5EF4-FFF2-40B4-BE49-F238E27FC236}">
                <a16:creationId xmlns:a16="http://schemas.microsoft.com/office/drawing/2014/main" id="{BE1E6F03-9E26-D51F-1659-ABF0F693D95C}"/>
              </a:ext>
            </a:extLst>
          </p:cNvPr>
          <p:cNvSpPr/>
          <p:nvPr/>
        </p:nvSpPr>
        <p:spPr>
          <a:xfrm>
            <a:off x="0" y="4869180"/>
            <a:ext cx="9144000" cy="1817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alifornian FB" panose="0207040306080B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latin typeface="Californian FB" panose="0207040306080B030204" pitchFamily="18" charset="0"/>
              </a:rPr>
              <a:t>Student List &amp; Quick Marking</a:t>
            </a:r>
            <a:endParaRPr lang="en-US" sz="3400" dirty="0">
              <a:latin typeface="Californian FB" panose="0207040306080B030204" pitchFamily="18" charset="0"/>
            </a:endParaRPr>
          </a:p>
        </p:txBody>
      </p:sp>
      <p:grpSp>
        <p:nvGrpSpPr>
          <p:cNvPr id="18" name="Group 17">
            <a:extLst>
              <a:ext uri="{FF2B5EF4-FFF2-40B4-BE49-F238E27FC236}">
                <a16:creationId xmlns:a16="http://schemas.microsoft.com/office/drawing/2014/main" id="{700E7A68-CC14-DE69-8CA0-738B1CAB8AF4}"/>
              </a:ext>
            </a:extLst>
          </p:cNvPr>
          <p:cNvGrpSpPr/>
          <p:nvPr/>
        </p:nvGrpSpPr>
        <p:grpSpPr>
          <a:xfrm>
            <a:off x="429768" y="947277"/>
            <a:ext cx="4760976" cy="2897775"/>
            <a:chOff x="457200" y="1124712"/>
            <a:chExt cx="4608576" cy="2710323"/>
          </a:xfrm>
        </p:grpSpPr>
        <p:sp>
          <p:nvSpPr>
            <p:cNvPr id="3" name="CSE Year III student list with attendance cards frame"/>
            <p:cNvSpPr/>
            <p:nvPr/>
          </p:nvSpPr>
          <p:spPr>
            <a:xfrm>
              <a:off x="457200" y="1124712"/>
              <a:ext cx="4608576" cy="2710323"/>
            </a:xfrm>
            <a:prstGeom prst="roundRect">
              <a:avLst>
                <a:gd name="adj" fmla="val 3374"/>
              </a:avLst>
            </a:prstGeom>
            <a:solidFill>
              <a:schemeClr val="bg1"/>
            </a:solidFill>
            <a:ln/>
            <a:effectLst>
              <a:outerShdw blurRad="101600" dist="25400" dir="5400000" algn="bl" rotWithShape="0">
                <a:srgbClr val="000000">
                  <a:alpha val="14000"/>
                </a:srgbClr>
              </a:outerShdw>
            </a:effectLst>
          </p:spPr>
        </p:sp>
        <p:pic>
          <p:nvPicPr>
            <p:cNvPr id="4" name="CSE Year III student list with attendance cards" descr="CSE Year III student list with attendance cards"/>
            <p:cNvPicPr>
              <a:picLocks noChangeAspect="1"/>
            </p:cNvPicPr>
            <p:nvPr/>
          </p:nvPicPr>
          <p:blipFill>
            <a:blip r:embed="rId3"/>
            <a:stretch>
              <a:fillRect/>
            </a:stretch>
          </p:blipFill>
          <p:spPr>
            <a:xfrm>
              <a:off x="521208" y="1188720"/>
              <a:ext cx="4480560" cy="2582307"/>
            </a:xfrm>
            <a:prstGeom prst="rect">
              <a:avLst/>
            </a:prstGeom>
          </p:spPr>
        </p:pic>
      </p:grpSp>
      <p:grpSp>
        <p:nvGrpSpPr>
          <p:cNvPr id="19" name="Group 18">
            <a:extLst>
              <a:ext uri="{FF2B5EF4-FFF2-40B4-BE49-F238E27FC236}">
                <a16:creationId xmlns:a16="http://schemas.microsoft.com/office/drawing/2014/main" id="{2DC28DF0-C3F1-8BCE-60F5-7881240B1BEB}"/>
              </a:ext>
            </a:extLst>
          </p:cNvPr>
          <p:cNvGrpSpPr/>
          <p:nvPr/>
        </p:nvGrpSpPr>
        <p:grpSpPr>
          <a:xfrm>
            <a:off x="5422392" y="953083"/>
            <a:ext cx="3236976" cy="1665251"/>
            <a:chOff x="5422392" y="1124712"/>
            <a:chExt cx="3236976" cy="1665251"/>
          </a:xfrm>
        </p:grpSpPr>
        <p:sp>
          <p:nvSpPr>
            <p:cNvPr id="8" name="Present and absent student cards frame"/>
            <p:cNvSpPr/>
            <p:nvPr/>
          </p:nvSpPr>
          <p:spPr>
            <a:xfrm>
              <a:off x="5422392" y="1124712"/>
              <a:ext cx="3236976" cy="1665251"/>
            </a:xfrm>
            <a:prstGeom prst="roundRect">
              <a:avLst>
                <a:gd name="adj" fmla="val 5491"/>
              </a:avLst>
            </a:prstGeom>
            <a:solidFill>
              <a:schemeClr val="bg1"/>
            </a:solidFill>
            <a:ln/>
            <a:effectLst>
              <a:outerShdw blurRad="101600" dist="25400" dir="5400000" algn="bl" rotWithShape="0">
                <a:srgbClr val="000000">
                  <a:alpha val="14000"/>
                </a:srgbClr>
              </a:outerShdw>
            </a:effectLst>
          </p:spPr>
        </p:sp>
        <p:pic>
          <p:nvPicPr>
            <p:cNvPr id="9" name="Present and absent student cards" descr="Present and absent student cards"/>
            <p:cNvPicPr>
              <a:picLocks noChangeAspect="1"/>
            </p:cNvPicPr>
            <p:nvPr/>
          </p:nvPicPr>
          <p:blipFill>
            <a:blip r:embed="rId4"/>
            <a:stretch>
              <a:fillRect/>
            </a:stretch>
          </p:blipFill>
          <p:spPr>
            <a:xfrm>
              <a:off x="5486400" y="1188720"/>
              <a:ext cx="3108960" cy="1537235"/>
            </a:xfrm>
            <a:prstGeom prst="rect">
              <a:avLst/>
            </a:prstGeom>
          </p:spPr>
        </p:pic>
      </p:grpSp>
      <p:grpSp>
        <p:nvGrpSpPr>
          <p:cNvPr id="21" name="Group 20">
            <a:extLst>
              <a:ext uri="{FF2B5EF4-FFF2-40B4-BE49-F238E27FC236}">
                <a16:creationId xmlns:a16="http://schemas.microsoft.com/office/drawing/2014/main" id="{16124A84-0EE2-E6FE-158E-2E88464A416E}"/>
              </a:ext>
            </a:extLst>
          </p:cNvPr>
          <p:cNvGrpSpPr/>
          <p:nvPr/>
        </p:nvGrpSpPr>
        <p:grpSpPr>
          <a:xfrm>
            <a:off x="562356" y="3142386"/>
            <a:ext cx="8257032" cy="1554480"/>
            <a:chOff x="457200" y="3017520"/>
            <a:chExt cx="8257032" cy="1554480"/>
          </a:xfrm>
        </p:grpSpPr>
        <p:sp>
          <p:nvSpPr>
            <p:cNvPr id="5" name="Every student at a glance badge"/>
            <p:cNvSpPr/>
            <p:nvPr/>
          </p:nvSpPr>
          <p:spPr>
            <a:xfrm>
              <a:off x="457200" y="3950208"/>
              <a:ext cx="420624" cy="420624"/>
            </a:xfrm>
            <a:prstGeom prst="ellipse">
              <a:avLst/>
            </a:prstGeom>
            <a:solidFill>
              <a:schemeClr val="accent1"/>
            </a:solidFill>
            <a:ln/>
          </p:spPr>
        </p:sp>
        <p:pic>
          <p:nvPicPr>
            <p:cNvPr id="6" name="Every student at a glance" descr="Every student at a glance"/>
            <p:cNvPicPr>
              <a:picLocks noChangeAspect="1"/>
            </p:cNvPicPr>
            <p:nvPr/>
          </p:nvPicPr>
          <p:blipFill>
            <a:blip r:embed="rId5"/>
            <a:stretch>
              <a:fillRect/>
            </a:stretch>
          </p:blipFill>
          <p:spPr>
            <a:xfrm>
              <a:off x="562356" y="4055364"/>
              <a:ext cx="210312" cy="210312"/>
            </a:xfrm>
            <a:prstGeom prst="rect">
              <a:avLst/>
            </a:prstGeom>
          </p:spPr>
        </p:pic>
        <p:sp>
          <p:nvSpPr>
            <p:cNvPr id="7" name="Every student at a glance"/>
            <p:cNvSpPr txBox="1"/>
            <p:nvPr/>
          </p:nvSpPr>
          <p:spPr>
            <a:xfrm>
              <a:off x="1024128" y="3931920"/>
              <a:ext cx="400507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Every student at a glance</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Each card shows name, roll no. and 30-day attendance %.</a:t>
              </a:r>
              <a:endParaRPr lang="en-US" sz="1400" dirty="0">
                <a:latin typeface="Californian FB" panose="0207040306080B030204" pitchFamily="18" charset="0"/>
              </a:endParaRPr>
            </a:p>
          </p:txBody>
        </p:sp>
        <p:sp>
          <p:nvSpPr>
            <p:cNvPr id="10" name="Click once: absent badge"/>
            <p:cNvSpPr/>
            <p:nvPr/>
          </p:nvSpPr>
          <p:spPr>
            <a:xfrm>
              <a:off x="5422392" y="3035808"/>
              <a:ext cx="420624" cy="420624"/>
            </a:xfrm>
            <a:prstGeom prst="ellipse">
              <a:avLst/>
            </a:prstGeom>
            <a:solidFill>
              <a:schemeClr val="accent2"/>
            </a:solidFill>
            <a:ln/>
          </p:spPr>
        </p:sp>
        <p:pic>
          <p:nvPicPr>
            <p:cNvPr id="11" name="Click once: absent" descr="Click once: absent"/>
            <p:cNvPicPr>
              <a:picLocks noChangeAspect="1"/>
            </p:cNvPicPr>
            <p:nvPr/>
          </p:nvPicPr>
          <p:blipFill>
            <a:blip r:embed="rId6"/>
            <a:stretch>
              <a:fillRect/>
            </a:stretch>
          </p:blipFill>
          <p:spPr>
            <a:xfrm>
              <a:off x="5527548" y="3140964"/>
              <a:ext cx="210312" cy="210312"/>
            </a:xfrm>
            <a:prstGeom prst="rect">
              <a:avLst/>
            </a:prstGeom>
          </p:spPr>
        </p:pic>
        <p:sp>
          <p:nvSpPr>
            <p:cNvPr id="12" name="Click once: absent"/>
            <p:cNvSpPr txBox="1"/>
            <p:nvPr/>
          </p:nvSpPr>
          <p:spPr>
            <a:xfrm>
              <a:off x="5989320" y="3017520"/>
              <a:ext cx="272491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Click once: absent</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The card turns red and the present count drops.</a:t>
              </a:r>
              <a:endParaRPr lang="en-US" sz="1400" dirty="0">
                <a:latin typeface="Californian FB" panose="0207040306080B030204" pitchFamily="18" charset="0"/>
              </a:endParaRPr>
            </a:p>
          </p:txBody>
        </p:sp>
        <p:sp>
          <p:nvSpPr>
            <p:cNvPr id="13" name="Click again: present badge"/>
            <p:cNvSpPr/>
            <p:nvPr/>
          </p:nvSpPr>
          <p:spPr>
            <a:xfrm>
              <a:off x="5422392" y="3904488"/>
              <a:ext cx="420624" cy="420624"/>
            </a:xfrm>
            <a:prstGeom prst="ellipse">
              <a:avLst/>
            </a:prstGeom>
            <a:solidFill>
              <a:schemeClr val="accent1"/>
            </a:solidFill>
            <a:ln/>
          </p:spPr>
        </p:sp>
        <p:pic>
          <p:nvPicPr>
            <p:cNvPr id="14" name="Click again: present" descr="Click again: present"/>
            <p:cNvPicPr>
              <a:picLocks noChangeAspect="1"/>
            </p:cNvPicPr>
            <p:nvPr/>
          </p:nvPicPr>
          <p:blipFill>
            <a:blip r:embed="rId7"/>
            <a:stretch>
              <a:fillRect/>
            </a:stretch>
          </p:blipFill>
          <p:spPr>
            <a:xfrm>
              <a:off x="5527548" y="4009644"/>
              <a:ext cx="210312" cy="210312"/>
            </a:xfrm>
            <a:prstGeom prst="rect">
              <a:avLst/>
            </a:prstGeom>
          </p:spPr>
        </p:pic>
        <p:sp>
          <p:nvSpPr>
            <p:cNvPr id="15" name="Click again: present"/>
            <p:cNvSpPr txBox="1"/>
            <p:nvPr/>
          </p:nvSpPr>
          <p:spPr>
            <a:xfrm>
              <a:off x="5989320" y="3886200"/>
              <a:ext cx="272491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Click again: present</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Back to green. No reload needed, so mistakes are easy to undo.</a:t>
              </a:r>
              <a:endParaRPr lang="en-US" sz="1400" dirty="0">
                <a:latin typeface="Californian FB" panose="0207040306080B030204" pitchFamily="18" charset="0"/>
              </a:endParaRPr>
            </a:p>
          </p:txBody>
        </p:sp>
      </p:gr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latin typeface="Californian FB" panose="0207040306080B030204" pitchFamily="18" charset="0"/>
              </a:rPr>
              <a:t>4</a:t>
            </a:fld>
            <a:endParaRPr lang="en-US">
              <a:latin typeface="Californian FB" panose="0207040306080B030204" pitchFamily="18" charset="0"/>
            </a:endParaRPr>
          </a:p>
        </p:txBody>
      </p:sp>
      <p:sp>
        <p:nvSpPr>
          <p:cNvPr id="17" name="Rectangle 16">
            <a:extLst>
              <a:ext uri="{FF2B5EF4-FFF2-40B4-BE49-F238E27FC236}">
                <a16:creationId xmlns:a16="http://schemas.microsoft.com/office/drawing/2014/main" id="{781FCC59-4EC1-064B-9BFE-4302A1B2868C}"/>
              </a:ext>
            </a:extLst>
          </p:cNvPr>
          <p:cNvSpPr/>
          <p:nvPr/>
        </p:nvSpPr>
        <p:spPr>
          <a:xfrm>
            <a:off x="0" y="4869180"/>
            <a:ext cx="9144000" cy="1817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alifornian FB" panose="0207040306080B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latin typeface="Californian FB" panose="0207040306080B030204" pitchFamily="18" charset="0"/>
              </a:rPr>
              <a:t>Calendar &amp; Quick Actions</a:t>
            </a:r>
            <a:endParaRPr lang="en-US" sz="3400" dirty="0">
              <a:latin typeface="Californian FB" panose="0207040306080B030204" pitchFamily="18" charset="0"/>
            </a:endParaRPr>
          </a:p>
        </p:txBody>
      </p:sp>
      <p:sp>
        <p:nvSpPr>
          <p:cNvPr id="3" name="Date picker calendar frame"/>
          <p:cNvSpPr/>
          <p:nvPr/>
        </p:nvSpPr>
        <p:spPr>
          <a:xfrm>
            <a:off x="457200" y="1188720"/>
            <a:ext cx="2962656" cy="3452594"/>
          </a:xfrm>
          <a:prstGeom prst="roundRect">
            <a:avLst>
              <a:gd name="adj" fmla="val 3086"/>
            </a:avLst>
          </a:prstGeom>
          <a:solidFill>
            <a:schemeClr val="bg1"/>
          </a:solidFill>
          <a:ln/>
          <a:effectLst>
            <a:outerShdw blurRad="101600" dist="25400" dir="5400000" algn="bl" rotWithShape="0">
              <a:srgbClr val="000000">
                <a:alpha val="14000"/>
              </a:srgbClr>
            </a:outerShdw>
          </a:effectLst>
        </p:spPr>
      </p:sp>
      <p:pic>
        <p:nvPicPr>
          <p:cNvPr id="4" name="Date picker calendar" descr="Date picker calendar"/>
          <p:cNvPicPr>
            <a:picLocks noChangeAspect="1"/>
          </p:cNvPicPr>
          <p:nvPr/>
        </p:nvPicPr>
        <p:blipFill>
          <a:blip r:embed="rId3"/>
          <a:stretch>
            <a:fillRect/>
          </a:stretch>
        </p:blipFill>
        <p:spPr>
          <a:xfrm>
            <a:off x="521208" y="1252728"/>
            <a:ext cx="2834640" cy="3324578"/>
          </a:xfrm>
          <a:prstGeom prst="rect">
            <a:avLst/>
          </a:prstGeom>
        </p:spPr>
      </p:pic>
      <p:grpSp>
        <p:nvGrpSpPr>
          <p:cNvPr id="42" name="Group 41">
            <a:extLst>
              <a:ext uri="{FF2B5EF4-FFF2-40B4-BE49-F238E27FC236}">
                <a16:creationId xmlns:a16="http://schemas.microsoft.com/office/drawing/2014/main" id="{A0903621-C80F-CD4A-20BB-24B3EA94540E}"/>
              </a:ext>
            </a:extLst>
          </p:cNvPr>
          <p:cNvGrpSpPr/>
          <p:nvPr/>
        </p:nvGrpSpPr>
        <p:grpSpPr>
          <a:xfrm>
            <a:off x="3867912" y="1104138"/>
            <a:ext cx="4754880" cy="3529584"/>
            <a:chOff x="3931920" y="1188720"/>
            <a:chExt cx="4754880" cy="3529584"/>
          </a:xfrm>
        </p:grpSpPr>
        <p:sp>
          <p:nvSpPr>
            <p:cNvPr id="5" name="Toolbar with all present, all absent, live count and save attendance frame"/>
            <p:cNvSpPr/>
            <p:nvPr/>
          </p:nvSpPr>
          <p:spPr>
            <a:xfrm>
              <a:off x="3931920" y="1188720"/>
              <a:ext cx="4754880" cy="511458"/>
            </a:xfrm>
            <a:prstGeom prst="roundRect">
              <a:avLst>
                <a:gd name="adj" fmla="val 17878"/>
              </a:avLst>
            </a:prstGeom>
            <a:solidFill>
              <a:schemeClr val="bg1"/>
            </a:solidFill>
            <a:ln/>
            <a:effectLst>
              <a:outerShdw blurRad="101600" dist="25400" dir="5400000" algn="bl" rotWithShape="0">
                <a:srgbClr val="000000">
                  <a:alpha val="14000"/>
                </a:srgbClr>
              </a:outerShdw>
            </a:effectLst>
          </p:spPr>
        </p:sp>
        <p:pic>
          <p:nvPicPr>
            <p:cNvPr id="6" name="Toolbar with all present, all absent, live count and save attendance" descr="Toolbar with all present, all absent, live count and save attendance"/>
            <p:cNvPicPr>
              <a:picLocks noChangeAspect="1"/>
            </p:cNvPicPr>
            <p:nvPr/>
          </p:nvPicPr>
          <p:blipFill>
            <a:blip r:embed="rId4"/>
            <a:stretch>
              <a:fillRect/>
            </a:stretch>
          </p:blipFill>
          <p:spPr>
            <a:xfrm>
              <a:off x="3995928" y="1252728"/>
              <a:ext cx="4626864" cy="383442"/>
            </a:xfrm>
            <a:prstGeom prst="rect">
              <a:avLst/>
            </a:prstGeom>
          </p:spPr>
        </p:pic>
        <p:sp>
          <p:nvSpPr>
            <p:cNvPr id="7" name="Date picker badge"/>
            <p:cNvSpPr/>
            <p:nvPr/>
          </p:nvSpPr>
          <p:spPr>
            <a:xfrm>
              <a:off x="3931920" y="2121408"/>
              <a:ext cx="420624" cy="420624"/>
            </a:xfrm>
            <a:prstGeom prst="ellipse">
              <a:avLst/>
            </a:prstGeom>
            <a:solidFill>
              <a:schemeClr val="accent2"/>
            </a:solidFill>
            <a:ln/>
          </p:spPr>
        </p:sp>
        <p:pic>
          <p:nvPicPr>
            <p:cNvPr id="8" name="Date picker" descr="Date picker"/>
            <p:cNvPicPr>
              <a:picLocks noChangeAspect="1"/>
            </p:cNvPicPr>
            <p:nvPr/>
          </p:nvPicPr>
          <p:blipFill>
            <a:blip r:embed="rId5"/>
            <a:stretch>
              <a:fillRect/>
            </a:stretch>
          </p:blipFill>
          <p:spPr>
            <a:xfrm>
              <a:off x="4037076" y="2226564"/>
              <a:ext cx="210312" cy="210312"/>
            </a:xfrm>
            <a:prstGeom prst="rect">
              <a:avLst/>
            </a:prstGeom>
          </p:spPr>
        </p:pic>
        <p:sp>
          <p:nvSpPr>
            <p:cNvPr id="9" name="Date picker"/>
            <p:cNvSpPr txBox="1"/>
            <p:nvPr/>
          </p:nvSpPr>
          <p:spPr>
            <a:xfrm>
              <a:off x="4498848" y="2103120"/>
              <a:ext cx="418795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Date picker</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Pick any date; Today and Clear shortcuts are built in.</a:t>
              </a:r>
              <a:endParaRPr lang="en-US" sz="1400" dirty="0">
                <a:latin typeface="Californian FB" panose="0207040306080B030204" pitchFamily="18" charset="0"/>
              </a:endParaRPr>
            </a:p>
          </p:txBody>
        </p:sp>
        <p:sp>
          <p:nvSpPr>
            <p:cNvPr id="10" name="All present / All absent badge"/>
            <p:cNvSpPr/>
            <p:nvPr/>
          </p:nvSpPr>
          <p:spPr>
            <a:xfrm>
              <a:off x="3931920" y="2779776"/>
              <a:ext cx="420624" cy="420624"/>
            </a:xfrm>
            <a:prstGeom prst="ellipse">
              <a:avLst/>
            </a:prstGeom>
            <a:solidFill>
              <a:schemeClr val="accent1"/>
            </a:solidFill>
            <a:ln/>
          </p:spPr>
        </p:sp>
        <p:pic>
          <p:nvPicPr>
            <p:cNvPr id="11" name="All present / All absent" descr="All present / All absent"/>
            <p:cNvPicPr>
              <a:picLocks noChangeAspect="1"/>
            </p:cNvPicPr>
            <p:nvPr/>
          </p:nvPicPr>
          <p:blipFill>
            <a:blip r:embed="rId6"/>
            <a:stretch>
              <a:fillRect/>
            </a:stretch>
          </p:blipFill>
          <p:spPr>
            <a:xfrm>
              <a:off x="4037076" y="2884932"/>
              <a:ext cx="210312" cy="210312"/>
            </a:xfrm>
            <a:prstGeom prst="rect">
              <a:avLst/>
            </a:prstGeom>
          </p:spPr>
        </p:pic>
        <p:sp>
          <p:nvSpPr>
            <p:cNvPr id="12" name="All present / All absent"/>
            <p:cNvSpPr txBox="1"/>
            <p:nvPr/>
          </p:nvSpPr>
          <p:spPr>
            <a:xfrm>
              <a:off x="4498848" y="2761488"/>
              <a:ext cx="418795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All present / All absent</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Mark the whole class in one click, then fix exceptions.</a:t>
              </a:r>
              <a:endParaRPr lang="en-US" sz="1400" dirty="0">
                <a:latin typeface="Californian FB" panose="0207040306080B030204" pitchFamily="18" charset="0"/>
              </a:endParaRPr>
            </a:p>
          </p:txBody>
        </p:sp>
        <p:sp>
          <p:nvSpPr>
            <p:cNvPr id="13" name="Live counter badge"/>
            <p:cNvSpPr/>
            <p:nvPr/>
          </p:nvSpPr>
          <p:spPr>
            <a:xfrm>
              <a:off x="3931920" y="3438144"/>
              <a:ext cx="420624" cy="420624"/>
            </a:xfrm>
            <a:prstGeom prst="ellipse">
              <a:avLst/>
            </a:prstGeom>
            <a:solidFill>
              <a:schemeClr val="accent2"/>
            </a:solidFill>
            <a:ln/>
          </p:spPr>
        </p:sp>
        <p:pic>
          <p:nvPicPr>
            <p:cNvPr id="14" name="Live counter" descr="Live counter"/>
            <p:cNvPicPr>
              <a:picLocks noChangeAspect="1"/>
            </p:cNvPicPr>
            <p:nvPr/>
          </p:nvPicPr>
          <p:blipFill>
            <a:blip r:embed="rId7"/>
            <a:stretch>
              <a:fillRect/>
            </a:stretch>
          </p:blipFill>
          <p:spPr>
            <a:xfrm>
              <a:off x="4037076" y="3543300"/>
              <a:ext cx="210312" cy="210312"/>
            </a:xfrm>
            <a:prstGeom prst="rect">
              <a:avLst/>
            </a:prstGeom>
          </p:spPr>
        </p:pic>
        <p:sp>
          <p:nvSpPr>
            <p:cNvPr id="15" name="Live counter"/>
            <p:cNvSpPr txBox="1"/>
            <p:nvPr/>
          </p:nvSpPr>
          <p:spPr>
            <a:xfrm>
              <a:off x="4498848" y="3419856"/>
              <a:ext cx="418795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Live counter</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Shows how many are present, for example 59 / 60.</a:t>
              </a:r>
              <a:endParaRPr lang="en-US" sz="1400" dirty="0">
                <a:latin typeface="Californian FB" panose="0207040306080B030204" pitchFamily="18" charset="0"/>
              </a:endParaRPr>
            </a:p>
          </p:txBody>
        </p:sp>
        <p:sp>
          <p:nvSpPr>
            <p:cNvPr id="16" name="Save attendance badge"/>
            <p:cNvSpPr/>
            <p:nvPr/>
          </p:nvSpPr>
          <p:spPr>
            <a:xfrm>
              <a:off x="3931920" y="4096512"/>
              <a:ext cx="420624" cy="420624"/>
            </a:xfrm>
            <a:prstGeom prst="ellipse">
              <a:avLst/>
            </a:prstGeom>
            <a:solidFill>
              <a:schemeClr val="accent1"/>
            </a:solidFill>
            <a:ln/>
          </p:spPr>
        </p:sp>
        <p:pic>
          <p:nvPicPr>
            <p:cNvPr id="17" name="Save attendance" descr="Save attendance"/>
            <p:cNvPicPr>
              <a:picLocks noChangeAspect="1"/>
            </p:cNvPicPr>
            <p:nvPr/>
          </p:nvPicPr>
          <p:blipFill>
            <a:blip r:embed="rId8"/>
            <a:stretch>
              <a:fillRect/>
            </a:stretch>
          </p:blipFill>
          <p:spPr>
            <a:xfrm>
              <a:off x="4037076" y="4201668"/>
              <a:ext cx="210312" cy="210312"/>
            </a:xfrm>
            <a:prstGeom prst="rect">
              <a:avLst/>
            </a:prstGeom>
          </p:spPr>
        </p:pic>
        <p:sp>
          <p:nvSpPr>
            <p:cNvPr id="18" name="Save attendance"/>
            <p:cNvSpPr txBox="1"/>
            <p:nvPr/>
          </p:nvSpPr>
          <p:spPr>
            <a:xfrm>
              <a:off x="4498848" y="4078224"/>
              <a:ext cx="418795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Save attendance</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Stores the day's record to the database.</a:t>
              </a:r>
              <a:endParaRPr lang="en-US" sz="1400" dirty="0">
                <a:latin typeface="Californian FB" panose="0207040306080B030204" pitchFamily="18" charset="0"/>
              </a:endParaRPr>
            </a:p>
          </p:txBody>
        </p:sp>
      </p:gr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latin typeface="Californian FB" panose="0207040306080B030204" pitchFamily="18" charset="0"/>
              </a:rPr>
              <a:t>5</a:t>
            </a:fld>
            <a:endParaRPr lang="en-US">
              <a:latin typeface="Californian FB" panose="0207040306080B030204" pitchFamily="18" charset="0"/>
            </a:endParaRPr>
          </a:p>
        </p:txBody>
      </p:sp>
      <p:sp>
        <p:nvSpPr>
          <p:cNvPr id="20" name="Rectangle 19">
            <a:extLst>
              <a:ext uri="{FF2B5EF4-FFF2-40B4-BE49-F238E27FC236}">
                <a16:creationId xmlns:a16="http://schemas.microsoft.com/office/drawing/2014/main" id="{A0961855-7583-7014-6DA0-C63609D9D0A4}"/>
              </a:ext>
            </a:extLst>
          </p:cNvPr>
          <p:cNvSpPr/>
          <p:nvPr/>
        </p:nvSpPr>
        <p:spPr>
          <a:xfrm>
            <a:off x="0" y="4869180"/>
            <a:ext cx="9144000" cy="1817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alifornian FB" panose="0207040306080B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400" b="1" dirty="0">
                <a:solidFill>
                  <a:schemeClr val="tx2"/>
                </a:solidFill>
                <a:latin typeface="Californian FB" panose="0207040306080B030204" pitchFamily="18" charset="0"/>
              </a:rPr>
              <a:t>AI Insights &amp; CSV Export</a:t>
            </a:r>
            <a:endParaRPr lang="en-US" sz="3400" dirty="0">
              <a:latin typeface="Californian FB" panose="0207040306080B030204" pitchFamily="18" charset="0"/>
            </a:endParaRPr>
          </a:p>
        </p:txBody>
      </p:sp>
      <p:grpSp>
        <p:nvGrpSpPr>
          <p:cNvPr id="26" name="Group 25">
            <a:extLst>
              <a:ext uri="{FF2B5EF4-FFF2-40B4-BE49-F238E27FC236}">
                <a16:creationId xmlns:a16="http://schemas.microsoft.com/office/drawing/2014/main" id="{3B3DB03F-40D9-DDF9-1CE7-20C7B0178335}"/>
              </a:ext>
            </a:extLst>
          </p:cNvPr>
          <p:cNvGrpSpPr/>
          <p:nvPr/>
        </p:nvGrpSpPr>
        <p:grpSpPr>
          <a:xfrm>
            <a:off x="341084" y="914400"/>
            <a:ext cx="4299496" cy="3824514"/>
            <a:chOff x="457200" y="1188720"/>
            <a:chExt cx="3877056" cy="3406328"/>
          </a:xfrm>
        </p:grpSpPr>
        <p:sp>
          <p:nvSpPr>
            <p:cNvPr id="3" name="AI Insights quick prompts and Ask box frame"/>
            <p:cNvSpPr/>
            <p:nvPr/>
          </p:nvSpPr>
          <p:spPr>
            <a:xfrm>
              <a:off x="457200" y="1188720"/>
              <a:ext cx="3877056" cy="927230"/>
            </a:xfrm>
            <a:prstGeom prst="roundRect">
              <a:avLst>
                <a:gd name="adj" fmla="val 9862"/>
              </a:avLst>
            </a:prstGeom>
            <a:solidFill>
              <a:schemeClr val="bg1"/>
            </a:solidFill>
            <a:ln/>
            <a:effectLst>
              <a:outerShdw blurRad="101600" dist="25400" dir="5400000" algn="bl" rotWithShape="0">
                <a:srgbClr val="000000">
                  <a:alpha val="14000"/>
                </a:srgbClr>
              </a:outerShdw>
            </a:effectLst>
          </p:spPr>
        </p:sp>
        <p:pic>
          <p:nvPicPr>
            <p:cNvPr id="4" name="AI Insights quick prompts and Ask box" descr="AI Insights quick prompts and Ask box"/>
            <p:cNvPicPr>
              <a:picLocks noChangeAspect="1"/>
            </p:cNvPicPr>
            <p:nvPr/>
          </p:nvPicPr>
          <p:blipFill>
            <a:blip r:embed="rId3"/>
            <a:stretch>
              <a:fillRect/>
            </a:stretch>
          </p:blipFill>
          <p:spPr>
            <a:xfrm>
              <a:off x="521208" y="1252728"/>
              <a:ext cx="3749040" cy="799214"/>
            </a:xfrm>
            <a:prstGeom prst="rect">
              <a:avLst/>
            </a:prstGeom>
          </p:spPr>
        </p:pic>
        <p:sp>
          <p:nvSpPr>
            <p:cNvPr id="5" name="AI drafted note for absent students frame"/>
            <p:cNvSpPr/>
            <p:nvPr/>
          </p:nvSpPr>
          <p:spPr>
            <a:xfrm>
              <a:off x="457200" y="2267712"/>
              <a:ext cx="3877056" cy="2327336"/>
            </a:xfrm>
            <a:prstGeom prst="roundRect">
              <a:avLst>
                <a:gd name="adj" fmla="val 3929"/>
              </a:avLst>
            </a:prstGeom>
            <a:solidFill>
              <a:schemeClr val="bg1"/>
            </a:solidFill>
            <a:ln/>
            <a:effectLst>
              <a:outerShdw blurRad="101600" dist="25400" dir="5400000" algn="bl" rotWithShape="0">
                <a:srgbClr val="000000">
                  <a:alpha val="14000"/>
                </a:srgbClr>
              </a:outerShdw>
            </a:effectLst>
          </p:spPr>
        </p:sp>
        <p:pic>
          <p:nvPicPr>
            <p:cNvPr id="6" name="AI drafted note for absent students" descr="AI drafted note for absent students"/>
            <p:cNvPicPr>
              <a:picLocks noChangeAspect="1"/>
            </p:cNvPicPr>
            <p:nvPr/>
          </p:nvPicPr>
          <p:blipFill>
            <a:blip r:embed="rId4"/>
            <a:stretch>
              <a:fillRect/>
            </a:stretch>
          </p:blipFill>
          <p:spPr>
            <a:xfrm>
              <a:off x="521208" y="2331720"/>
              <a:ext cx="3749040" cy="2199320"/>
            </a:xfrm>
            <a:prstGeom prst="rect">
              <a:avLst/>
            </a:prstGeom>
          </p:spPr>
        </p:pic>
      </p:grpSp>
      <p:grpSp>
        <p:nvGrpSpPr>
          <p:cNvPr id="27" name="Group 26">
            <a:extLst>
              <a:ext uri="{FF2B5EF4-FFF2-40B4-BE49-F238E27FC236}">
                <a16:creationId xmlns:a16="http://schemas.microsoft.com/office/drawing/2014/main" id="{BE574E06-4E79-7320-E886-6E1799AEDE43}"/>
              </a:ext>
            </a:extLst>
          </p:cNvPr>
          <p:cNvGrpSpPr/>
          <p:nvPr/>
        </p:nvGrpSpPr>
        <p:grpSpPr>
          <a:xfrm>
            <a:off x="4905756" y="1067163"/>
            <a:ext cx="4023360" cy="3383280"/>
            <a:chOff x="4663440" y="1234440"/>
            <a:chExt cx="4023360" cy="3383280"/>
          </a:xfrm>
        </p:grpSpPr>
        <p:sp>
          <p:nvSpPr>
            <p:cNvPr id="7" name="Who is at risk? badge"/>
            <p:cNvSpPr/>
            <p:nvPr/>
          </p:nvSpPr>
          <p:spPr>
            <a:xfrm>
              <a:off x="4663440" y="1252728"/>
              <a:ext cx="420624" cy="420624"/>
            </a:xfrm>
            <a:prstGeom prst="ellipse">
              <a:avLst/>
            </a:prstGeom>
            <a:solidFill>
              <a:schemeClr val="accent2"/>
            </a:solidFill>
            <a:ln/>
          </p:spPr>
        </p:sp>
        <p:pic>
          <p:nvPicPr>
            <p:cNvPr id="8" name="Who is at risk?" descr="Who is at risk?"/>
            <p:cNvPicPr>
              <a:picLocks noChangeAspect="1"/>
            </p:cNvPicPr>
            <p:nvPr/>
          </p:nvPicPr>
          <p:blipFill>
            <a:blip r:embed="rId5"/>
            <a:stretch>
              <a:fillRect/>
            </a:stretch>
          </p:blipFill>
          <p:spPr>
            <a:xfrm>
              <a:off x="4768596" y="1357884"/>
              <a:ext cx="210312" cy="210312"/>
            </a:xfrm>
            <a:prstGeom prst="rect">
              <a:avLst/>
            </a:prstGeom>
          </p:spPr>
        </p:pic>
        <p:sp>
          <p:nvSpPr>
            <p:cNvPr id="9" name="Who is at risk?"/>
            <p:cNvSpPr txBox="1"/>
            <p:nvPr/>
          </p:nvSpPr>
          <p:spPr>
            <a:xfrm>
              <a:off x="5230368" y="1234440"/>
              <a:ext cx="34564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Who is at risk?</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Lists students below the 75% threshold with their 30-day %.</a:t>
              </a:r>
              <a:endParaRPr lang="en-US" sz="1400" dirty="0">
                <a:latin typeface="Californian FB" panose="0207040306080B030204" pitchFamily="18" charset="0"/>
              </a:endParaRPr>
            </a:p>
          </p:txBody>
        </p:sp>
        <p:sp>
          <p:nvSpPr>
            <p:cNvPr id="10" name="Draft a note for absent students badge"/>
            <p:cNvSpPr/>
            <p:nvPr/>
          </p:nvSpPr>
          <p:spPr>
            <a:xfrm>
              <a:off x="4663440" y="1892808"/>
              <a:ext cx="420624" cy="420624"/>
            </a:xfrm>
            <a:prstGeom prst="ellipse">
              <a:avLst/>
            </a:prstGeom>
            <a:solidFill>
              <a:schemeClr val="accent1"/>
            </a:solidFill>
            <a:ln/>
          </p:spPr>
        </p:sp>
        <p:pic>
          <p:nvPicPr>
            <p:cNvPr id="11" name="Draft a note for absent students" descr="Draft a note for absent students"/>
            <p:cNvPicPr>
              <a:picLocks noChangeAspect="1"/>
            </p:cNvPicPr>
            <p:nvPr/>
          </p:nvPicPr>
          <p:blipFill>
            <a:blip r:embed="rId6"/>
            <a:stretch>
              <a:fillRect/>
            </a:stretch>
          </p:blipFill>
          <p:spPr>
            <a:xfrm>
              <a:off x="4768596" y="1997964"/>
              <a:ext cx="210312" cy="210312"/>
            </a:xfrm>
            <a:prstGeom prst="rect">
              <a:avLst/>
            </a:prstGeom>
          </p:spPr>
        </p:pic>
        <p:sp>
          <p:nvSpPr>
            <p:cNvPr id="12" name="Draft a note for absent students"/>
            <p:cNvSpPr txBox="1"/>
            <p:nvPr/>
          </p:nvSpPr>
          <p:spPr>
            <a:xfrm>
              <a:off x="5230368" y="1874520"/>
              <a:ext cx="34564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Draft a note for absent students</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Generates a ready-to-send reminder for the class.</a:t>
              </a:r>
              <a:endParaRPr lang="en-US" sz="1400" dirty="0">
                <a:latin typeface="Californian FB" panose="0207040306080B030204" pitchFamily="18" charset="0"/>
              </a:endParaRPr>
            </a:p>
          </p:txBody>
        </p:sp>
        <p:sp>
          <p:nvSpPr>
            <p:cNvPr id="13" name="Class attendance summary badge"/>
            <p:cNvSpPr/>
            <p:nvPr/>
          </p:nvSpPr>
          <p:spPr>
            <a:xfrm>
              <a:off x="4663440" y="2532888"/>
              <a:ext cx="420624" cy="420624"/>
            </a:xfrm>
            <a:prstGeom prst="ellipse">
              <a:avLst/>
            </a:prstGeom>
            <a:solidFill>
              <a:schemeClr val="accent2"/>
            </a:solidFill>
            <a:ln/>
          </p:spPr>
        </p:sp>
        <p:pic>
          <p:nvPicPr>
            <p:cNvPr id="14" name="Class attendance summary" descr="Class attendance summary"/>
            <p:cNvPicPr>
              <a:picLocks noChangeAspect="1"/>
            </p:cNvPicPr>
            <p:nvPr/>
          </p:nvPicPr>
          <p:blipFill>
            <a:blip r:embed="rId7"/>
            <a:stretch>
              <a:fillRect/>
            </a:stretch>
          </p:blipFill>
          <p:spPr>
            <a:xfrm>
              <a:off x="4768596" y="2638044"/>
              <a:ext cx="210312" cy="210312"/>
            </a:xfrm>
            <a:prstGeom prst="rect">
              <a:avLst/>
            </a:prstGeom>
          </p:spPr>
        </p:pic>
        <p:sp>
          <p:nvSpPr>
            <p:cNvPr id="15" name="Class attendance summary"/>
            <p:cNvSpPr txBox="1"/>
            <p:nvPr/>
          </p:nvSpPr>
          <p:spPr>
            <a:xfrm>
              <a:off x="5230368" y="2514600"/>
              <a:ext cx="34564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Class attendance summary</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One-click overview of how the class is doing.</a:t>
              </a:r>
              <a:endParaRPr lang="en-US" sz="1400" dirty="0">
                <a:latin typeface="Californian FB" panose="0207040306080B030204" pitchFamily="18" charset="0"/>
              </a:endParaRPr>
            </a:p>
          </p:txBody>
        </p:sp>
        <p:sp>
          <p:nvSpPr>
            <p:cNvPr id="16" name="Ask anything badge"/>
            <p:cNvSpPr/>
            <p:nvPr/>
          </p:nvSpPr>
          <p:spPr>
            <a:xfrm>
              <a:off x="4663440" y="3172968"/>
              <a:ext cx="420624" cy="420624"/>
            </a:xfrm>
            <a:prstGeom prst="ellipse">
              <a:avLst/>
            </a:prstGeom>
            <a:solidFill>
              <a:schemeClr val="accent1"/>
            </a:solidFill>
            <a:ln/>
          </p:spPr>
        </p:sp>
        <p:pic>
          <p:nvPicPr>
            <p:cNvPr id="17" name="Ask anything" descr="Ask anything"/>
            <p:cNvPicPr>
              <a:picLocks noChangeAspect="1"/>
            </p:cNvPicPr>
            <p:nvPr/>
          </p:nvPicPr>
          <p:blipFill>
            <a:blip r:embed="rId8"/>
            <a:stretch>
              <a:fillRect/>
            </a:stretch>
          </p:blipFill>
          <p:spPr>
            <a:xfrm>
              <a:off x="4768596" y="3278124"/>
              <a:ext cx="210312" cy="210312"/>
            </a:xfrm>
            <a:prstGeom prst="rect">
              <a:avLst/>
            </a:prstGeom>
          </p:spPr>
        </p:pic>
        <p:sp>
          <p:nvSpPr>
            <p:cNvPr id="18" name="Ask anything"/>
            <p:cNvSpPr txBox="1"/>
            <p:nvPr/>
          </p:nvSpPr>
          <p:spPr>
            <a:xfrm>
              <a:off x="5230368" y="3154680"/>
              <a:ext cx="3456432" cy="640080"/>
            </a:xfrm>
            <a:prstGeom prst="rect">
              <a:avLst/>
            </a:prstGeom>
            <a:noFill/>
            <a:ln/>
          </p:spPr>
          <p:txBody>
            <a:bodyPr wrap="square" lIns="0" tIns="0" rIns="0" bIns="0" rtlCol="0" anchor="t"/>
            <a:lstStyle/>
            <a:p>
              <a:pPr marL="0" indent="0">
                <a:buNone/>
              </a:pPr>
              <a:r>
                <a:rPr lang="en-US" sz="1400" b="1" dirty="0">
                  <a:solidFill>
                    <a:schemeClr val="tx1"/>
                  </a:solidFill>
                  <a:latin typeface="Californian FB" panose="0207040306080B030204" pitchFamily="18" charset="0"/>
                </a:rPr>
                <a:t>Ask anything</a:t>
              </a:r>
              <a:endParaRPr lang="en-US" sz="1400" dirty="0">
                <a:latin typeface="Californian FB" panose="0207040306080B030204" pitchFamily="18" charset="0"/>
              </a:endParaRPr>
            </a:p>
            <a:p>
              <a:pPr marL="0" indent="0">
                <a:buNone/>
              </a:pPr>
              <a:r>
                <a:rPr lang="en-US" sz="1200" dirty="0">
                  <a:solidFill>
                    <a:srgbClr val="5A6B62"/>
                  </a:solidFill>
                  <a:latin typeface="Californian FB" panose="0207040306080B030204" pitchFamily="18" charset="0"/>
                </a:rPr>
                <a:t>Type a free-text question about attendance and press Ask.</a:t>
              </a:r>
              <a:endParaRPr lang="en-US" sz="1400" dirty="0">
                <a:latin typeface="Californian FB" panose="0207040306080B030204" pitchFamily="18" charset="0"/>
              </a:endParaRPr>
            </a:p>
          </p:txBody>
        </p:sp>
        <p:sp>
          <p:nvSpPr>
            <p:cNvPr id="19" name="CSV export card"/>
            <p:cNvSpPr/>
            <p:nvPr/>
          </p:nvSpPr>
          <p:spPr>
            <a:xfrm>
              <a:off x="4663440" y="3840480"/>
              <a:ext cx="4023360" cy="777240"/>
            </a:xfrm>
            <a:prstGeom prst="roundRect">
              <a:avLst>
                <a:gd name="adj" fmla="val 11765"/>
              </a:avLst>
            </a:prstGeom>
            <a:solidFill>
              <a:schemeClr val="accent4"/>
            </a:solidFill>
            <a:ln/>
            <a:effectLst>
              <a:outerShdw blurRad="101600" dist="25400" dir="5400000" algn="bl" rotWithShape="0">
                <a:srgbClr val="000000">
                  <a:alpha val="14000"/>
                </a:srgbClr>
              </a:outerShdw>
            </a:effectLst>
          </p:spPr>
        </p:sp>
        <p:sp>
          <p:nvSpPr>
            <p:cNvPr id="20" name="CSV export badge"/>
            <p:cNvSpPr/>
            <p:nvPr/>
          </p:nvSpPr>
          <p:spPr>
            <a:xfrm>
              <a:off x="4800600" y="4014216"/>
              <a:ext cx="420624" cy="420624"/>
            </a:xfrm>
            <a:prstGeom prst="ellipse">
              <a:avLst/>
            </a:prstGeom>
            <a:solidFill>
              <a:schemeClr val="accent6"/>
            </a:solidFill>
            <a:ln/>
          </p:spPr>
        </p:sp>
        <p:pic>
          <p:nvPicPr>
            <p:cNvPr id="21" name="CSV export" descr="CSV export"/>
            <p:cNvPicPr>
              <a:picLocks noChangeAspect="1"/>
            </p:cNvPicPr>
            <p:nvPr/>
          </p:nvPicPr>
          <p:blipFill>
            <a:blip r:embed="rId9"/>
            <a:stretch>
              <a:fillRect/>
            </a:stretch>
          </p:blipFill>
          <p:spPr>
            <a:xfrm>
              <a:off x="4905756" y="4119372"/>
              <a:ext cx="210312" cy="210312"/>
            </a:xfrm>
            <a:prstGeom prst="rect">
              <a:avLst/>
            </a:prstGeom>
          </p:spPr>
        </p:pic>
        <p:sp>
          <p:nvSpPr>
            <p:cNvPr id="22" name="CSV text"/>
            <p:cNvSpPr txBox="1"/>
            <p:nvPr/>
          </p:nvSpPr>
          <p:spPr>
            <a:xfrm>
              <a:off x="5349240" y="3840480"/>
              <a:ext cx="3246120" cy="777240"/>
            </a:xfrm>
            <a:prstGeom prst="rect">
              <a:avLst/>
            </a:prstGeom>
            <a:noFill/>
            <a:ln/>
          </p:spPr>
          <p:txBody>
            <a:bodyPr wrap="square" lIns="0" tIns="0" rIns="0" bIns="0" rtlCol="0" anchor="ctr"/>
            <a:lstStyle/>
            <a:p>
              <a:pPr marL="0" indent="0">
                <a:buNone/>
              </a:pPr>
              <a:r>
                <a:rPr lang="en-US" sz="1500" b="1" dirty="0">
                  <a:solidFill>
                    <a:schemeClr val="tx1"/>
                  </a:solidFill>
                  <a:latin typeface="Californian FB" panose="0207040306080B030204" pitchFamily="18" charset="0"/>
                </a:rPr>
                <a:t>Export to CSV</a:t>
              </a:r>
              <a:endParaRPr lang="en-US" sz="1500" dirty="0">
                <a:latin typeface="Californian FB" panose="0207040306080B030204" pitchFamily="18" charset="0"/>
              </a:endParaRPr>
            </a:p>
            <a:p>
              <a:pPr marL="0" indent="0">
                <a:buNone/>
              </a:pPr>
              <a:r>
                <a:rPr lang="en-US" sz="1200" dirty="0">
                  <a:solidFill>
                    <a:schemeClr val="tx1"/>
                  </a:solidFill>
                  <a:latin typeface="Californian FB" panose="0207040306080B030204" pitchFamily="18" charset="0"/>
                </a:rPr>
                <a:t>All attendance data is fully exportable.</a:t>
              </a:r>
              <a:endParaRPr lang="en-US" sz="1500" dirty="0">
                <a:latin typeface="Californian FB" panose="0207040306080B030204" pitchFamily="18" charset="0"/>
              </a:endParaRPr>
            </a:p>
          </p:txBody>
        </p:sp>
      </p:gr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B62"/>
                </a:solidFill>
              </a:defRPr>
            </a:lvl1pPr>
          </a:lstStyle>
          <a:p>
            <a:pPr algn="r"/>
            <a:fld id="{F7021451-1387-4CA6-816F-3879F97B5CBC}" type="slidenum">
              <a:rPr lang="en-US" b="0">
                <a:latin typeface="Californian FB" panose="0207040306080B030204" pitchFamily="18" charset="0"/>
              </a:rPr>
              <a:t>6</a:t>
            </a:fld>
            <a:endParaRPr lang="en-US">
              <a:latin typeface="Californian FB" panose="0207040306080B030204" pitchFamily="18" charset="0"/>
            </a:endParaRPr>
          </a:p>
        </p:txBody>
      </p:sp>
      <p:sp>
        <p:nvSpPr>
          <p:cNvPr id="24" name="Rectangle 23">
            <a:extLst>
              <a:ext uri="{FF2B5EF4-FFF2-40B4-BE49-F238E27FC236}">
                <a16:creationId xmlns:a16="http://schemas.microsoft.com/office/drawing/2014/main" id="{E79B7F35-D5F6-7D78-2D40-41FB2895F9D9}"/>
              </a:ext>
            </a:extLst>
          </p:cNvPr>
          <p:cNvSpPr/>
          <p:nvPr/>
        </p:nvSpPr>
        <p:spPr>
          <a:xfrm>
            <a:off x="0" y="4869180"/>
            <a:ext cx="9144000" cy="18179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Californian FB" panose="0207040306080B030204" pitchFamily="18" charset="0"/>
            </a:endParaRPr>
          </a:p>
        </p:txBody>
      </p:sp>
    </p:spTree>
  </p:cSld>
  <p:clrMapOvr>
    <a:masterClrMapping/>
  </p:clrMapOvr>
</p:sld>
</file>

<file path=ppt/theme/theme1.xml><?xml version="1.0" encoding="utf-8"?>
<a:theme xmlns:a="http://schemas.openxmlformats.org/drawingml/2006/main" name="AMS Green Pink">
  <a:themeElements>
    <a:clrScheme name="AMS Green Pink">
      <a:dk1>
        <a:srgbClr val="1B2A22"/>
      </a:dk1>
      <a:lt1>
        <a:srgbClr val="FFFFFF"/>
      </a:lt1>
      <a:dk2>
        <a:srgbClr val="0B4A32"/>
      </a:dk2>
      <a:lt2>
        <a:srgbClr val="FFF4F8"/>
      </a:lt2>
      <a:accent1>
        <a:srgbClr val="0B6B47"/>
      </a:accent1>
      <a:accent2>
        <a:srgbClr val="E6408B"/>
      </a:accent2>
      <a:accent3>
        <a:srgbClr val="7BC8A0"/>
      </a:accent3>
      <a:accent4>
        <a:srgbClr val="F8BBD9"/>
      </a:accent4>
      <a:accent5>
        <a:srgbClr val="E8F5EE"/>
      </a:accent5>
      <a:accent6>
        <a:srgbClr val="9A1F58"/>
      </a:accent6>
      <a:hlink>
        <a:srgbClr val="0B6B47"/>
      </a:hlink>
      <a:folHlink>
        <a:srgbClr val="9A1F58"/>
      </a:folHlink>
    </a:clrScheme>
    <a:fontScheme name="AMS Green P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713</Words>
  <Application>Microsoft Office PowerPoint</Application>
  <PresentationFormat>On-screen Show (16:9)</PresentationFormat>
  <Paragraphs>85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Californian FB</vt:lpstr>
      <vt:lpstr>AMS Green Pink</vt:lpstr>
      <vt:lpstr>AMS – AI Driven Attendance Monitoring System</vt:lpstr>
      <vt:lpstr>Attendance Overview</vt:lpstr>
      <vt:lpstr>Departments &amp; Classes</vt:lpstr>
      <vt:lpstr>Student List &amp; Quick Marking</vt:lpstr>
      <vt:lpstr>Calendar &amp; Quick Actions</vt:lpstr>
      <vt:lpstr>AI Insights &amp; CSV Export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 - AI Driven Attendance Monitoring System</dc:title>
  <dc:subject>PptxGenJS Presentation</dc:subject>
  <dc:creator>AMS Project Team</dc:creator>
  <cp:lastModifiedBy>Aditya Singh Kushwaha</cp:lastModifiedBy>
  <cp:revision>5</cp:revision>
  <cp:lastPrinted>2026-10-25T09:27:08Z</cp:lastPrinted>
  <dcterms:created xsi:type="dcterms:W3CDTF">2026-10-25T08:57:44Z</dcterms:created>
  <dcterms:modified xsi:type="dcterms:W3CDTF">2026-10-25T09:28:33Z</dcterms:modified>
</cp:coreProperties>
</file>